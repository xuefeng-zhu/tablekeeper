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740e7433e849e2" /><Relationship Type="http://schemas.openxmlformats.org/officeDocument/2006/relationships/extended-properties" Target="/docProps/app.xml" Id="R3f25aa31aa9d4ac2" /><Relationship Type="http://schemas.openxmlformats.org/officeDocument/2006/relationships/officeDocument" Target="/ppt/presentation.xml" Id="R2cfd4de636f34b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f31194a1414d40"/>
  </p:sldMasterIdLst>
  <p:notesMasterIdLst>
    <p:notesMasterId xmlns:r="http://schemas.openxmlformats.org/officeDocument/2006/relationships" r:id="Raa32bf4788ec4de3"/>
  </p:notesMasterIdLst>
  <p:sldIdLst>
    <p:sldId xmlns:r="http://schemas.openxmlformats.org/officeDocument/2006/relationships" id="256" r:id="R0c0a712e5df54fdb"/>
    <p:sldId xmlns:r="http://schemas.openxmlformats.org/officeDocument/2006/relationships" id="257" r:id="R997606b07d794daf"/>
    <p:sldId xmlns:r="http://schemas.openxmlformats.org/officeDocument/2006/relationships" id="258" r:id="R295614d5a09b48d6"/>
    <p:sldId xmlns:r="http://schemas.openxmlformats.org/officeDocument/2006/relationships" id="259" r:id="R9b2438085b134328"/>
    <p:sldId xmlns:r="http://schemas.openxmlformats.org/officeDocument/2006/relationships" id="260" r:id="Rf57fc91668974d68"/>
    <p:sldId xmlns:r="http://schemas.openxmlformats.org/officeDocument/2006/relationships" id="261" r:id="Rdfd6f8d1edda4d20"/>
    <p:sldId xmlns:r="http://schemas.openxmlformats.org/officeDocument/2006/relationships" id="262" r:id="Rb607ea99f56b4a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ba2eeed377439c" /><Relationship Type="http://schemas.openxmlformats.org/officeDocument/2006/relationships/slideMaster" Target="/ppt/slideMasters/slideMaster1.xml" Id="R19f31194a1414d40" /><Relationship Type="http://schemas.openxmlformats.org/officeDocument/2006/relationships/notesMaster" Target="/ppt/notesMasters/notesMaster1.xml" Id="Raa32bf4788ec4de3" /><Relationship Type="http://schemas.openxmlformats.org/officeDocument/2006/relationships/presProps" Target="/ppt/presProps.xml" Id="Rdb0b9d62d06b477a" /><Relationship Type="http://schemas.openxmlformats.org/officeDocument/2006/relationships/tableStyles" Target="/ppt/tableStyles.xml" Id="Rd09de9a4924e4ec1" /><Relationship Type="http://schemas.openxmlformats.org/officeDocument/2006/relationships/slide" Target="/ppt/slides/slide1.xml" Id="R0c0a712e5df54fdb" /><Relationship Type="http://schemas.openxmlformats.org/officeDocument/2006/relationships/slide" Target="/ppt/slides/slide2.xml" Id="R997606b07d794daf" /><Relationship Type="http://schemas.openxmlformats.org/officeDocument/2006/relationships/slide" Target="/ppt/slides/slide3.xml" Id="R295614d5a09b48d6" /><Relationship Type="http://schemas.openxmlformats.org/officeDocument/2006/relationships/slide" Target="/ppt/slides/slide4.xml" Id="R9b2438085b134328" /><Relationship Type="http://schemas.openxmlformats.org/officeDocument/2006/relationships/slide" Target="/ppt/slides/slide5.xml" Id="Rf57fc91668974d68" /><Relationship Type="http://schemas.openxmlformats.org/officeDocument/2006/relationships/slide" Target="/ppt/slides/slide6.xml" Id="Rdfd6f8d1edda4d20" /><Relationship Type="http://schemas.openxmlformats.org/officeDocument/2006/relationships/slide" Target="/ppt/slides/slide7.xml" Id="Rb607ea99f56b4a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f4ac305ea14e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e20d7ace2d45ee" /><Relationship Type="http://schemas.openxmlformats.org/officeDocument/2006/relationships/notesMaster" Target="/ppt/notesMasters/notesMaster1.xml" Id="R57cda2f549cd41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753c8eabe84303" /><Relationship Type="http://schemas.openxmlformats.org/officeDocument/2006/relationships/notesMaster" Target="/ppt/notesMasters/notesMaster1.xml" Id="Re34fa56c0eaf41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8f9c94a87f41f0" /><Relationship Type="http://schemas.openxmlformats.org/officeDocument/2006/relationships/notesMaster" Target="/ppt/notesMasters/notesMaster1.xml" Id="Rc14a6020b85048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beca6bd4714d80" /><Relationship Type="http://schemas.openxmlformats.org/officeDocument/2006/relationships/notesMaster" Target="/ppt/notesMasters/notesMaster1.xml" Id="Rdf634fe5bb4749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04c712b4f64fdd" /><Relationship Type="http://schemas.openxmlformats.org/officeDocument/2006/relationships/notesMaster" Target="/ppt/notesMasters/notesMaster1.xml" Id="R8ae7d14ea9f643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42d7606f894bbc" /><Relationship Type="http://schemas.openxmlformats.org/officeDocument/2006/relationships/notesMaster" Target="/ppt/notesMasters/notesMaster1.xml" Id="Rbec344ed4d5747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d5df7e24c7496d" /><Relationship Type="http://schemas.openxmlformats.org/officeDocument/2006/relationships/notesMaster" Target="/ppt/notesMasters/notesMaster1.xml" Id="Rb0891732dcdb40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event: https://lablab.ai/ai-hackathons/wearedevelopers-hackathon</a:t>
            </a:r>
          </a:p>
          <a:p xmlns:a="http://schemas.openxmlformats.org/drawingml/2006/main">
            <a:r>
              <a:t>Canonical artifacts: https://github.com/Xuefeng-Zhu/Tablekeeper</a:t>
            </a:r>
          </a:p>
          <a:p xmlns:a="http://schemas.openxmlformats.org/drawingml/2006/main">
            <a:r>
              <a:t>Room 4084182d-0b85-46d6-a137-f0bd7d44b498. This is a local development/practice run with human amendments, not a claim of judged autonomy.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seven standing mandates specify Harness: Codex; Model: gpt-6.1-sol. Source: result-local-sol-20261005/mandates. Factory accounts use literal verified roster IDs. Event scoring: https://lablab.ai/ai-hackathons/wearedevelopers-hackathon (Factory 50%, App 25%, Agent Teamwork 25%).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runs/local-sol-20261005/factory.yaml, runtime/workflow-4084182d-0b85-46d6-a137-f0bd7d44b498.json, task board and handoff journals. Current administrative workflow permits implementation after accepted architecture/design without waiting for QA planning. Final independent QA and Reviewer acceptance remain required. No remote infrastructure is an application runtime dependency.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Accepted candidate b3df39340cee6f738ac79a12dd1347fc38e969e9. Reviewer record: result-local-sol-20261005/.evidence/reviewer-s1-repair2-20261006T0428Z/record.json, acceptance at 2026-10-06T04:32:06.210433Z. Official isolated report completed 04:29:13.361588Z, 120 passed, 0 failed/errors/skips. Earlier rejected candidates bfff047 and 799ff7f retained. This is independent local factory release evidence, not organizer judging.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app: https://tablekeeper-stage2.onrender.com</a:t>
            </a:r>
          </a:p>
          <a:p xmlns:a="http://schemas.openxmlformats.org/drawingml/2006/main">
            <a:r>
              <a:t>Deployment commit 382998fe143268754ade2ed2702090df3f71ef56 in https://github.com/Xuefeng-Zhu/tablekeeper-stage2. Source candidate b1f7ef64db7f0dce0b3f3a913a3af280c96d70b9. Factory UI repair candidate 108bcd4c48fa4fb4d7dedf286e94c8e4937f7f10 remains pending final Reviewer acceptance at deck preparation. Eight actual HTTPS smoke groups passed in runs/render-stage2-verification/live-smoke-20261006T060444Z.json. Screenshot source: submission/build-guild-demo/raw/00020.jpg, actual captured browser footage. Public deploy adds separate sample-seed adapter, closes test routes and retains in-memory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generating room: Tablekeeper · Local Sol · October 5, ID 4084182d-0b85-46d6-a137-f0bd7d44b498. Video submission/build-guild-demo/output/The-Build-Guild-Tablekeeper-Demo.mp4, 205.932682 seconds, actual room footage and public walkthrough. Recorded PM→Reviewer review-s2-focus-001 sent 06:07:50Z, acknowledged 06:08:42Z; UI b1f7ef6 rejection at 06:11:08Z for R-F1 keyboard focus. Source screenshot selected from captured actual room-review-rejection footage. Video QA remains separately scoped; not a proof of final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Dated read at 2026-10-06T06:23:11.996979Z: cumulative reported tokens 460625777 minus retained baseline 356587855 = 104037922 run tokens, including cached input; initial dispatch 03:07:44.138296Z, elapsed 3h15m27.859s. Source submission/build-guild-demo/README.md and runs/local-sol-20261005 accounting/ledger. This is not final usage, dollars, subscription quota or a cost forecast. User-approved run allowance 300000000 total, cumulative cap 656587855. Canonical repository https://github.com/Xuefeng-Zhu/Tablekeeper. Human scheduling/budget amendments and drained administrative restarts disclosed. Participant guide at pinned 803560d2a678ace1414465c098eb0ab5380ffade requires participant-authored README.md/FACTORY.md, genuine end-of-run full room export and public GitHub. Event https://lablab.ai/ai-hackathons/wearedevelopers-hackathon.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140fd03ea41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79defe2fe94f1a" /><Relationship Type="http://schemas.openxmlformats.org/officeDocument/2006/relationships/slideLayout" Target="/ppt/slideLayouts/slideLayout1.xml" Id="R7e67991d17924d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67991d17924d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0d5433e2d40ff" /><Relationship Type="http://schemas.openxmlformats.org/officeDocument/2006/relationships/notesSlide" Target="/ppt/notesSlides/notesSlide1.xml" Id="R5d84815465b641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0861a036c4e35" /><Relationship Type="http://schemas.openxmlformats.org/officeDocument/2006/relationships/notesSlide" Target="/ppt/notesSlides/notesSlide2.xml" Id="R60e36035a2f949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d7cb544a64678" /><Relationship Type="http://schemas.openxmlformats.org/officeDocument/2006/relationships/notesSlide" Target="/ppt/notesSlides/notesSlide3.xml" Id="Rd4e0fdbc557446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fcdf809e2431a" /><Relationship Type="http://schemas.openxmlformats.org/officeDocument/2006/relationships/notesSlide" Target="/ppt/notesSlides/notesSlide4.xml" Id="R6f445e5392764b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100c722ee4a26" /><Relationship Type="http://schemas.openxmlformats.org/officeDocument/2006/relationships/image" Target="/ppt/media/image.jpeg" Id="Ra00a91664a774156" /><Relationship Type="http://schemas.openxmlformats.org/officeDocument/2006/relationships/notesSlide" Target="/ppt/notesSlides/notesSlide5.xml" Id="R93a87c17209e44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6fd3d13c048e2" /><Relationship Type="http://schemas.openxmlformats.org/officeDocument/2006/relationships/image" Target="/ppt/media/image2.jpeg" Id="Rcb0550ed3a97482a" /><Relationship Type="http://schemas.openxmlformats.org/officeDocument/2006/relationships/notesSlide" Target="/ppt/notesSlides/notesSlide6.xml" Id="R165d258b09ff43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b2ea671fa4162" /><Relationship Type="http://schemas.openxmlformats.org/officeDocument/2006/relationships/notesSlide" Target="/ppt/notesSlides/notesSlide7.xml" Id="Rbd2256876c9d43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22365-79C1-438E-9558-2888BEA1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Tablekeeper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8D796-3C83-4B1C-9F62-95B0CFD9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The Build Guild · Tablekeeper / Local Sol ·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8C82F-A297-4109-8AA1-A31A67DF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A restaurant service built by a seven-seat factory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19152-C251-4A97-AD77-61D516B7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D32"/>
                </a:solidFill>
                <a:latin typeface="Arial"/>
                <a:ea typeface="Arial"/>
                <a:cs typeface="Arial"/>
              </a:rPr>
              <a:t>The Build Guild · Codex · GPT-6.1 Sol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6A717-5909-4670-9D2E-EE4BEC14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Local development run · October 5,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1738B-6FCB-4FF6-B3CD-1228E83D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D32"/>
                </a:solidFill>
                <a:latin typeface="Arial"/>
                <a:ea typeface="Arial"/>
                <a:cs typeface="Arial"/>
              </a:rPr>
              <a:t>One independently accepted stage. A public Stage 2 demo.</a:t>
            </a:r>
          </a:p>
        </p:txBody>
      </p:sp>
    </p:spTree>
    <p:extLst>
      <p:ext uri="{BB962C8B-B14F-4D97-AF65-F5344CB8AC3E}">
        <p14:creationId xmlns:p14="http://schemas.microsoft.com/office/powerpoint/2010/main" val="12033817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AB1CD-ECDA-4559-8478-3BC66E45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Seven seats with clear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785D6-2B18-4202-AE94-A857EBE3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The Build Guild · Tablekeeper / Local Sol · 2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54173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Seat</a:t>
                      </a:r>
                    </a:p>
                  </a:txBody>
                  <a:tcPr marL="91440" marR="91440" marT="45720" marB="45720">
                    <a:solidFill>
                      <a:srgbClr val="173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91440" marR="91440" marT="45720" marB="45720">
                    <a:solidFill>
                      <a:srgbClr val="173D32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D32"/>
                          </a:solidFill>
                          <a:latin typeface="Arial"/>
                          <a:ea typeface="Arial"/>
                          <a:cs typeface="Arial"/>
                        </a:rPr>
                        <a:t>PM</a:t>
                      </a:r>
                    </a:p>
                  </a:txBody>
                  <a:tcPr marL="91440" marR="91440" marT="45720" marB="45720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D32"/>
                          </a:solidFill>
                          <a:latin typeface="Arial"/>
                          <a:ea typeface="Arial"/>
                          <a:cs typeface="Arial"/>
                        </a:rPr>
                        <a:t>Queue, ownership, integration and scope</a:t>
                      </a:r>
                    </a:p>
                  </a:txBody>
                  <a:tcPr marL="91440" marR="91440" marT="45720" marB="45720">
                    <a:solidFill>
                      <a:srgbClr val="F5F1E8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D32"/>
                          </a:solidFill>
                          <a:latin typeface="Arial"/>
                          <a:ea typeface="Arial"/>
                          <a:cs typeface="Arial"/>
                        </a:rPr>
                        <a:t>Architect</a:t>
                      </a:r>
                    </a:p>
                  </a:txBody>
                  <a:tcPr marL="91440" marR="91440" marT="45720" marB="45720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D32"/>
                          </a:solidFill>
                          <a:latin typeface="Arial"/>
                          <a:ea typeface="Arial"/>
                          <a:cs typeface="Arial"/>
                        </a:rPr>
                        <a:t>API, state, time and upgrade decisions</a:t>
                      </a:r>
                    </a:p>
                  </a:txBody>
                  <a:tcPr marL="91440" marR="91440" marT="45720" marB="45720">
                    <a:solidFill>
                      <a:srgbClr val="F5F1E8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D32"/>
                          </a:solidFill>
                          <a:latin typeface="Arial"/>
                          <a:ea typeface="Arial"/>
                          <a:cs typeface="Arial"/>
                        </a:rPr>
                        <a:t>Designer</a:t>
                      </a:r>
                    </a:p>
                  </a:txBody>
                  <a:tcPr marL="91440" marR="91440" marT="45720" marB="45720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D32"/>
                          </a:solidFill>
                          <a:latin typeface="Arial"/>
                          <a:ea typeface="Arial"/>
                          <a:cs typeface="Arial"/>
                        </a:rPr>
                        <a:t>Journeys, visual states and rendered review</a:t>
                      </a:r>
                    </a:p>
                  </a:txBody>
                  <a:tcPr marL="91440" marR="91440" marT="45720" marB="45720">
                    <a:solidFill>
                      <a:srgbClr val="F5F1E8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D32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91440" marR="91440" marT="45720" marB="45720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D32"/>
                          </a:solidFill>
                          <a:latin typeface="Arial"/>
                          <a:ea typeface="Arial"/>
                          <a:cs typeface="Arial"/>
                        </a:rPr>
                        <a:t>Independent service stages and atomic changes</a:t>
                      </a:r>
                    </a:p>
                  </a:txBody>
                  <a:tcPr marL="91440" marR="91440" marT="45720" marB="45720">
                    <a:solidFill>
                      <a:srgbClr val="F5F1E8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D32"/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</a:p>
                  </a:txBody>
                  <a:tcPr marL="91440" marR="91440" marT="45720" marB="45720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D32"/>
                          </a:solidFill>
                          <a:latin typeface="Arial"/>
                          <a:ea typeface="Arial"/>
                          <a:cs typeface="Arial"/>
                        </a:rPr>
                        <a:t>Booking screens and uncertain-response recovery</a:t>
                      </a:r>
                    </a:p>
                  </a:txBody>
                  <a:tcPr marL="91440" marR="91440" marT="45720" marB="45720">
                    <a:solidFill>
                      <a:srgbClr val="F5F1E8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D32"/>
                          </a:solidFill>
                          <a:latin typeface="Arial"/>
                          <a:ea typeface="Arial"/>
                          <a:cs typeface="Arial"/>
                        </a:rPr>
                        <a:t>QA</a:t>
                      </a:r>
                    </a:p>
                  </a:txBody>
                  <a:tcPr marL="91440" marR="91440" marT="45720" marB="45720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D32"/>
                          </a:solidFill>
                          <a:latin typeface="Arial"/>
                          <a:ea typeface="Arial"/>
                          <a:cs typeface="Arial"/>
                        </a:rPr>
                        <a:t>Independent behavior, browser and upgrade checks</a:t>
                      </a:r>
                    </a:p>
                  </a:txBody>
                  <a:tcPr marL="91440" marR="91440" marT="45720" marB="45720">
                    <a:solidFill>
                      <a:srgbClr val="F5F1E8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D32"/>
                          </a:solidFill>
                          <a:latin typeface="Arial"/>
                          <a:ea typeface="Arial"/>
                          <a:cs typeface="Arial"/>
                        </a:rPr>
                        <a:t>Reviewer</a:t>
                      </a:r>
                    </a:p>
                  </a:txBody>
                  <a:tcPr marL="91440" marR="91440" marT="45720" marB="45720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D32"/>
                          </a:solidFill>
                          <a:latin typeface="Arial"/>
                          <a:ea typeface="Arial"/>
                          <a:cs typeface="Arial"/>
                        </a:rPr>
                        <a:t>Exact-candidate rejection and release decisions</a:t>
                      </a:r>
                    </a:p>
                  </a:txBody>
                  <a:tcPr marL="91440" marR="91440" marT="45720" marB="45720"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877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EE562-7450-46A6-840D-F06CED0F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Durable handoffs and one active writer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581DA-BEF7-45B0-B659-F1328B49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The Build Guild · Tablekeeper / Local Sol ·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86B4D-AE66-497A-BAFC-034BE223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F6C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F6C3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E9F2E-85CF-4735-86B5-0F06C12A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571625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Assign a scoped work item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A87E2-F9DC-4AC7-898E-8B0175A2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2882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Owner, requirements, starting revision and evidence paths.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37512-DDD3-45F0-9B0B-B3CFE48C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F6C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F6C3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1515B-43B0-4E6F-9526-5C731468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6700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Confirm the complete handoff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16E35-FA3C-4D2A-897D-99E94067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242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Numbered parts, digest and addressed receipt.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34AE4-7C55-457E-AA4C-95EB2900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F6C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F6C3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37C75-1F1C-4DDE-91B3-142854BC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762375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Implement under one writer 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FA881-1E32-4A9D-972D-97640E6F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195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Attributable commits; exact candidates remain fixed for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BFB54-589C-4F6F-8A80-4FDE00E7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F6C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F6C3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04632-ADAD-4677-BE94-8B839767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577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Accept or return a specific defect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E8528-09FA-4FA3-BCC1-55FA4248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149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Independent checks, preserved failures and bounded repairs.</a:t>
            </a:r>
          </a:p>
        </p:txBody>
      </p:sp>
    </p:spTree>
    <p:extLst>
      <p:ext uri="{BB962C8B-B14F-4D97-AF65-F5344CB8AC3E}">
        <p14:creationId xmlns:p14="http://schemas.microsoft.com/office/powerpoint/2010/main" val="1197898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8498F-AC71-4DFB-9ACE-AF8CE7BD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Stage 1 accepted after concrete repairs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E3EF5-A4BB-457E-B95D-72F54E8C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The Build Guild · Tablekeeper / Local Sol ·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40047-D08A-43D4-B8AB-82EEAB31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71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120 / 120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FF1DD-5CCA-4C1C-AEAB-A7C0CBF1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D32"/>
                </a:solidFill>
                <a:latin typeface="Arial"/>
                <a:ea typeface="Arial"/>
                <a:cs typeface="Arial"/>
              </a:rPr>
              <a:t>Supplied isolated checks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2885D-D0CC-4351-B133-DE7BEB67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D32"/>
                </a:solidFill>
                <a:latin typeface="Arial"/>
                <a:ea typeface="Arial"/>
                <a:cs typeface="Arial"/>
              </a:rPr>
              <a:t>Reviewer challenged calendar and UTC boundary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15690-CE81-413D-AA49-50EE23F9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D32"/>
                </a:solidFill>
                <a:latin typeface="Arial"/>
                <a:ea typeface="Arial"/>
                <a:cs typeface="Arial"/>
              </a:rPr>
              <a:t>Backend repaired unbounded queries and extreme booking instants.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FB8C5-1055-47E1-9AC6-17E3E0DD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Accepted exact candidate: b3df393 · Stage 1 only</a:t>
            </a:r>
          </a:p>
        </p:txBody>
      </p:sp>
    </p:spTree>
    <p:extLst>
      <p:ext uri="{BB962C8B-B14F-4D97-AF65-F5344CB8AC3E}">
        <p14:creationId xmlns:p14="http://schemas.microsoft.com/office/powerpoint/2010/main" val="11955491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BE7C2-DE9A-4381-970F-B6E25BEA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Stage 2 demo on Render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C79AD-99FA-415A-8787-FEF22DF3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The Build Guild · Tablekeeper / Local Sol · 5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a91664a774156"/>
          <a:stretch xmlns:a="http://schemas.openxmlformats.org/drawingml/2006/main"/>
        </p:blipFill>
        <p:spPr>
          <a:xfrm xmlns:a="http://schemas.openxmlformats.org/drawingml/2006/main">
            <a:off x="609600" y="2016919"/>
            <a:ext cx="6858000" cy="320516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F1C98-1F96-4FB3-A6C8-5E8912FF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Search · pairs · booking · lookup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705B8-E0CC-4DFA-8AD4-27B2DCF7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D32"/>
                </a:solidFill>
                <a:latin typeface="Arial"/>
                <a:ea typeface="Arial"/>
                <a:cs typeface="Arial"/>
              </a:rPr>
              <a:t>8 live HTTP smoke groups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157B7-2238-461E-908A-BBB582BA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290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Fictional venues. Accounts and reservations reset on restart.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3CCB5-7133-4761-AA73-19465E30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Deployed: b1f7ef6 → 382998f · New factory candidate: 108bcd4, review pending</a:t>
            </a:r>
          </a:p>
        </p:txBody>
      </p:sp>
    </p:spTree>
    <p:extLst>
      <p:ext uri="{BB962C8B-B14F-4D97-AF65-F5344CB8AC3E}">
        <p14:creationId xmlns:p14="http://schemas.microsoft.com/office/powerpoint/2010/main" val="5520049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DC07F-1A06-4F7F-B953-2F02ED01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The room shows review changing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C093C-35E6-497D-A01F-5AA75134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The Build Guild · Tablekeeper / Local Sol · 6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550ed3a97482a"/>
          <a:stretch xmlns:a="http://schemas.openxmlformats.org/drawingml/2006/main"/>
        </p:blipFill>
        <p:spPr>
          <a:xfrm xmlns:a="http://schemas.openxmlformats.org/drawingml/2006/main">
            <a:off x="609600" y="2150269"/>
            <a:ext cx="6858000" cy="293846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D20D4-4E6B-4FC8-B48D-CD410264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A real handoff, receipt and rejection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ACC8F-6603-485A-BCA3-09D728C8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D32"/>
                </a:solidFill>
                <a:latin typeface="Arial"/>
                <a:ea typeface="Arial"/>
                <a:cs typeface="Arial"/>
              </a:rPr>
              <a:t>Reviewer found keyboard focus loss after booking responses.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925D8-0AE1-4E69-966A-4CCBB63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05325"/>
            <a:ext cx="371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Video: 3m 26s with the generating room and public walkthrough.</a:t>
            </a:r>
          </a:p>
        </p:txBody>
      </p:sp>
    </p:spTree>
    <p:extLst>
      <p:ext uri="{BB962C8B-B14F-4D97-AF65-F5344CB8AC3E}">
        <p14:creationId xmlns:p14="http://schemas.microsoft.com/office/powerpoint/2010/main" val="10310993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BC64B-546C-452B-96E7-2E2306BC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Measured progress and remaining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9A89E-E708-4302-A0DB-AC2ABF14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The Build Guild · Tablekeeper / Local Sol ·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E6C10-91A8-46E9-8B9B-A1A15B98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D32"/>
                </a:solidFill>
                <a:latin typeface="Arial"/>
                <a:ea typeface="Arial"/>
                <a:cs typeface="Arial"/>
              </a:rPr>
              <a:t>104,037,922 reported tokens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14845-4E94-42C5-AF4C-346F95E2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D32"/>
                </a:solidFill>
                <a:latin typeface="Arial"/>
                <a:ea typeface="Arial"/>
                <a:cs typeface="Arial"/>
              </a:rPr>
              <a:t>3h 15m 27s elapsed · Snapshot: 06:23:11 UTC, October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1A489-D061-4CEF-AADC-1638407B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D32"/>
                </a:solidFill>
                <a:latin typeface="Arial"/>
                <a:ea typeface="Arial"/>
                <a:cs typeface="Arial"/>
              </a:rPr>
              <a:t>300m total allowance · USD cost unavailable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9D5F9-798B-4B7E-8A52-B68B90AA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Local practice includes human amendments and administrative restarts.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D22FB-18F1-429B-A831-7BC42B4F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D32"/>
                </a:solidFill>
                <a:latin typeface="Arial"/>
                <a:ea typeface="Arial"/>
                <a:cs typeface="Arial"/>
              </a:rPr>
              <a:t>Next: final Stage 2 review, full room export, participant-authored docs.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FBE1B-9EDC-4292-B2B3-72C78441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15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159"/>
                </a:solidFill>
                <a:latin typeface="Arial"/>
                <a:ea typeface="Arial"/>
                <a:cs typeface="Arial"/>
              </a:rPr>
              <a:t>https://github.com/Xuefeng-Zhu/Tablekeeper</a:t>
            </a:r>
          </a:p>
        </p:txBody>
      </p:sp>
    </p:spTree>
    <p:extLst>
      <p:ext uri="{BB962C8B-B14F-4D97-AF65-F5344CB8AC3E}">
        <p14:creationId xmlns:p14="http://schemas.microsoft.com/office/powerpoint/2010/main" val="1477913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2026-10-06T06:40:22.4190000Z</dcterms:created>
  <dcterms:modified xsi:type="dcterms:W3CDTF">2026-10-06T06:40:22.4190000Z</dcterms:modified>
</coreProperties>
</file>
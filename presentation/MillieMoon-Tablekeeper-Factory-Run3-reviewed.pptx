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10987bea7414211" /><Relationship Type="http://schemas.openxmlformats.org/officeDocument/2006/relationships/extended-properties" Target="/docProps/app.xml" Id="Rc17513f4bc8b440c" /><Relationship Type="http://schemas.openxmlformats.org/officeDocument/2006/relationships/officeDocument" Target="/ppt/presentation.xml" Id="Rbc7e1726a564404e" /></Relationships>
</file>

<file path=ppt/presentation.xml><?xml version="1.0" encoding="utf-8"?>
<p:presentation xmlns:p="http://schemas.openxmlformats.org/presentationml/2006/main">
  <p:sldMasterIdLst>
    <p:sldMasterId xmlns:r="http://schemas.openxmlformats.org/officeDocument/2006/relationships" id="2147483648" r:id="R5828da3430f54924"/>
  </p:sldMasterIdLst>
  <p:notesMasterIdLst>
    <p:notesMasterId xmlns:r="http://schemas.openxmlformats.org/officeDocument/2006/relationships" r:id="Re984e68c2a2248e4"/>
  </p:notesMasterIdLst>
  <p:sldIdLst>
    <p:sldId xmlns:r="http://schemas.openxmlformats.org/officeDocument/2006/relationships" id="256" r:id="Rbb38a3d3b20c440d"/>
    <p:sldId xmlns:r="http://schemas.openxmlformats.org/officeDocument/2006/relationships" id="257" r:id="R7af26d0e33754412"/>
    <p:sldId xmlns:r="http://schemas.openxmlformats.org/officeDocument/2006/relationships" id="258" r:id="Rb046d2169c1f469e"/>
    <p:sldId xmlns:r="http://schemas.openxmlformats.org/officeDocument/2006/relationships" id="259" r:id="R1a3eaf0d22164790"/>
    <p:sldId xmlns:r="http://schemas.openxmlformats.org/officeDocument/2006/relationships" id="260" r:id="Rcd476fc909694d76"/>
    <p:sldId xmlns:r="http://schemas.openxmlformats.org/officeDocument/2006/relationships" id="261" r:id="Rb3abf9d2a3004297"/>
    <p:sldId xmlns:r="http://schemas.openxmlformats.org/officeDocument/2006/relationships" id="262" r:id="R5fe17de4938a4f4a"/>
    <p:sldId xmlns:r="http://schemas.openxmlformats.org/officeDocument/2006/relationships" id="263" r:id="Rca83dd89e68749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006df3c5294032" /><Relationship Type="http://schemas.openxmlformats.org/officeDocument/2006/relationships/slideMaster" Target="/ppt/slideMasters/slideMaster1.xml" Id="R5828da3430f54924" /><Relationship Type="http://schemas.openxmlformats.org/officeDocument/2006/relationships/notesMaster" Target="/ppt/notesMasters/notesMaster1.xml" Id="Re984e68c2a2248e4" /><Relationship Type="http://schemas.openxmlformats.org/officeDocument/2006/relationships/presProps" Target="/ppt/presProps.xml" Id="R5838b9c9c6914ca2" /><Relationship Type="http://schemas.openxmlformats.org/officeDocument/2006/relationships/tableStyles" Target="/ppt/tableStyles.xml" Id="Ref304323eed44e5b" /><Relationship Type="http://schemas.openxmlformats.org/officeDocument/2006/relationships/slide" Target="/ppt/slides/slide1.xml" Id="Rbb38a3d3b20c440d" /><Relationship Type="http://schemas.openxmlformats.org/officeDocument/2006/relationships/slide" Target="/ppt/slides/slide2.xml" Id="R7af26d0e33754412" /><Relationship Type="http://schemas.openxmlformats.org/officeDocument/2006/relationships/slide" Target="/ppt/slides/slide3.xml" Id="Rb046d2169c1f469e" /><Relationship Type="http://schemas.openxmlformats.org/officeDocument/2006/relationships/slide" Target="/ppt/slides/slide4.xml" Id="R1a3eaf0d22164790" /><Relationship Type="http://schemas.openxmlformats.org/officeDocument/2006/relationships/slide" Target="/ppt/slides/slide5.xml" Id="Rcd476fc909694d76" /><Relationship Type="http://schemas.openxmlformats.org/officeDocument/2006/relationships/slide" Target="/ppt/slides/slide6.xml" Id="Rb3abf9d2a3004297" /><Relationship Type="http://schemas.openxmlformats.org/officeDocument/2006/relationships/slide" Target="/ppt/slides/slide7.xml" Id="R5fe17de4938a4f4a" /><Relationship Type="http://schemas.openxmlformats.org/officeDocument/2006/relationships/slide" Target="/ppt/slides/slide8.xml" Id="Rca83dd89e68749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3d383f0f2744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f2b5f7e0494fde" /><Relationship Type="http://schemas.openxmlformats.org/officeDocument/2006/relationships/notesMaster" Target="/ppt/notesMasters/notesMaster1.xml" Id="R49484172cfd649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8ead19263941ce" /><Relationship Type="http://schemas.openxmlformats.org/officeDocument/2006/relationships/notesMaster" Target="/ppt/notesMasters/notesMaster1.xml" Id="R2befd10e280e49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36bff20744416b" /><Relationship Type="http://schemas.openxmlformats.org/officeDocument/2006/relationships/notesMaster" Target="/ppt/notesMasters/notesMaster1.xml" Id="Ra5badc50187e4c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c2a409cba84295" /><Relationship Type="http://schemas.openxmlformats.org/officeDocument/2006/relationships/notesMaster" Target="/ppt/notesMasters/notesMaster1.xml" Id="R6654dfeee5eb49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fad79e03fe4405" /><Relationship Type="http://schemas.openxmlformats.org/officeDocument/2006/relationships/notesMaster" Target="/ppt/notesMasters/notesMaster1.xml" Id="R868de3440b1b40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f0f8f97c044482" /><Relationship Type="http://schemas.openxmlformats.org/officeDocument/2006/relationships/notesMaster" Target="/ppt/notesMasters/notesMaster1.xml" Id="R9e5f3615c80349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596a94830a469c" /><Relationship Type="http://schemas.openxmlformats.org/officeDocument/2006/relationships/notesMaster" Target="/ppt/notesMasters/notesMaster1.xml" Id="Rafee848fa6974e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a6cda6dc2c4e6d" /><Relationship Type="http://schemas.openxmlformats.org/officeDocument/2006/relationships/notesMaster" Target="/ppt/notesMasters/notesMaster1.xml" Id="Ra030cbc2b63c40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3 started once in BAND room 9b059f6b-ee17-44bd-99cd-0277cf602a81. This presentation covers the independently accepted Stage 1 candidate and the later stopped workflow. It does not claim an implemented Stage 2 or final submission. Assistant-prepared evidence deck; participant authors final README.md and FACTORY.md.</a:t>
            </a:r>
          </a:p>
          <a:p xmlns:a="http://schemas.openxmlformats.org/drawingml/2006/main">
            <a:r>
              <a:t/>
            </a:r>
          </a:p>
          <a:p xmlns:a="http://schemas.openxmlformats.org/drawingml/2006/main">
            <a:r>
              <a:t>Sources</a:t>
            </a:r>
          </a:p>
          <a:p xmlns:a="http://schemas.openxmlformats.org/drawingml/2006/main">
            <a:r>
              <a:t>/Users/frank/mygit/Tablekeeper/runs/judged-attempts/attempt-3/dispatch-verification.json</a:t>
            </a:r>
          </a:p>
          <a:p xmlns:a="http://schemas.openxmlformats.org/drawingml/2006/main">
            <a:r>
              <a:t>SHA-256 5f0b8ed16d8034b95dd544b7e579eea6477e01d73083be27fa57ca4f49cfb545</a:t>
            </a:r>
          </a:p>
          <a:p xmlns:a="http://schemas.openxmlformats.org/drawingml/2006/main">
            <a:r>
              <a:t/>
            </a:r>
          </a:p>
          <a:p xmlns:a="http://schemas.openxmlformats.org/drawingml/2006/main">
            <a:r>
              <a:t>/Users/frank/mygit/Tablekeeper/result-run-3/.evidence/reviewer-s1-f1-20261004T080315Z/candidate-acceptance.json</a:t>
            </a:r>
          </a:p>
          <a:p xmlns:a="http://schemas.openxmlformats.org/drawingml/2006/main">
            <a:r>
              <a:t>SHA-256 021fab4786fa4ec11c6570ea32d35b7200f99ff4f8562228d0d7af83b4004069</a:t>
            </a:r>
          </a:p>
          <a:p xmlns:a="http://schemas.openxmlformats.org/drawingml/2006/main">
            <a:r>
              <a:t/>
            </a:r>
          </a:p>
          <a:p xmlns:a="http://schemas.openxmlformats.org/drawingml/2006/main">
            <a:r>
              <a:t>/Users/frank/mygit/Tablekeeper/runs/run3-preservation-20261004T164154Z/manifest.json</a:t>
            </a:r>
          </a:p>
          <a:p xmlns:a="http://schemas.openxmlformats.org/drawingml/2006/main">
            <a:r>
              <a:t>SHA-256 cdb28c7ba4936973b7e591b1dbc699e1f14339b13e620c3944d2c113e0d4f5e7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 is BAND-authored. Only stage-1 exists in the delivered Git tree. planning/ contains Stage 2 contracts and PM acceptance of plans, not a completed product stage. Stage 3 and Stage 4 remain unimplemented. The accepted scope is local evidence and does not establish production suitability.</a:t>
            </a:r>
          </a:p>
          <a:p xmlns:a="http://schemas.openxmlformats.org/drawingml/2006/main">
            <a:r>
              <a:t/>
            </a:r>
          </a:p>
          <a:p xmlns:a="http://schemas.openxmlformats.org/drawingml/2006/main">
            <a:r>
              <a:t>Sources</a:t>
            </a:r>
          </a:p>
          <a:p xmlns:a="http://schemas.openxmlformats.org/drawingml/2006/main">
            <a:r>
              <a:t>/Users/frank/mygit/Tablekeeper/result-run-3/.evidence/reviewer-s1-f1-20261004T080315Z/candidate-acceptance.json</a:t>
            </a:r>
          </a:p>
          <a:p xmlns:a="http://schemas.openxmlformats.org/drawingml/2006/main">
            <a:r>
              <a:t>SHA-256 021fab4786fa4ec11c6570ea32d35b7200f99ff4f8562228d0d7af83b4004069</a:t>
            </a:r>
          </a:p>
          <a:p xmlns:a="http://schemas.openxmlformats.org/drawingml/2006/main">
            <a:r>
              <a:t/>
            </a:r>
          </a:p>
          <a:p xmlns:a="http://schemas.openxmlformats.org/drawingml/2006/main">
            <a:r>
              <a:t>/Users/frank/mygit/Tablekeeper/result-run-3/stage-1/RUN.md</a:t>
            </a:r>
          </a:p>
          <a:p xmlns:a="http://schemas.openxmlformats.org/drawingml/2006/main">
            <a:r>
              <a:t>SHA-256 85fff79aef429ce54ca3096150355edd719c7f4798a5cccd0fd8ef002c0ffe38</a:t>
            </a:r>
          </a:p>
          <a:p xmlns:a="http://schemas.openxmlformats.org/drawingml/2006/main">
            <a:r>
              <a:t/>
            </a:r>
          </a:p>
          <a:p xmlns:a="http://schemas.openxmlformats.org/drawingml/2006/main">
            <a:r>
              <a:t>/Users/frank/mygit/Tablekeeper/runs/run3-preservation-20261004T164154Z/manifest.json</a:t>
            </a:r>
          </a:p>
          <a:p xmlns:a="http://schemas.openxmlformats.org/drawingml/2006/main">
            <a:r>
              <a:t>SHA-256 cdb28c7ba4936973b7e591b1dbc699e1f14339b13e620c3944d2c113e0d4f5e7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role-flow diagram based on actual mandates and evidence, not a complete room-event sequence. A global lease limited activity to one seat. There are seven identities; the diagram does not claim all seven authored Stage 1. Exact handles: frankzhu94/factory-pm, factory-architect, factory-designer, factory-backend, factory-frontend, factory-qa and factory-reviewer. See source configuration for stable UUIDs. The official BAND room, not preparation assistant subagents, carried judged collaboration.</a:t>
            </a:r>
          </a:p>
          <a:p xmlns:a="http://schemas.openxmlformats.org/drawingml/2006/main">
            <a:r>
              <a:t/>
            </a:r>
          </a:p>
          <a:p xmlns:a="http://schemas.openxmlformats.org/drawingml/2006/main">
            <a:r>
              <a:t>Sources</a:t>
            </a:r>
          </a:p>
          <a:p xmlns:a="http://schemas.openxmlformats.org/drawingml/2006/main">
            <a:r>
              <a:t>/Users/frank/mygit/Tablekeeper/runs/run3-preservation-20261004T164154Z/factory/config/factory.yaml</a:t>
            </a:r>
          </a:p>
          <a:p xmlns:a="http://schemas.openxmlformats.org/drawingml/2006/main">
            <a:r>
              <a:t>SHA-256 729b9461b8ff462d6101da994ac679fa9eeede7babd0f5638b055396ed60df47</a:t>
            </a:r>
          </a:p>
          <a:p xmlns:a="http://schemas.openxmlformats.org/drawingml/2006/main">
            <a:r>
              <a:t/>
            </a:r>
          </a:p>
          <a:p xmlns:a="http://schemas.openxmlformats.org/drawingml/2006/main">
            <a:r>
              <a:t>/Users/frank/mygit/Tablekeeper/result-run-3/.evidence/reviewer-s1-f1-20261004T080315Z/candidate-acceptance.json</a:t>
            </a:r>
          </a:p>
          <a:p xmlns:a="http://schemas.openxmlformats.org/drawingml/2006/main">
            <a:r>
              <a:t>SHA-256 021fab4786fa4ec11c6570ea32d35b7200f99ff4f8562228d0d7af83b4004069</a:t>
            </a:r>
          </a:p>
          <a:p xmlns:a="http://schemas.openxmlformats.org/drawingml/2006/main">
            <a:r>
              <a:t/>
            </a:r>
          </a:p>
          <a:p xmlns:a="http://schemas.openxmlformats.org/drawingml/2006/main">
            <a:r>
              <a:t>/Users/frank/mygit/Tablekeeper/result-run-3/.evidence/reviewer-s1-20261004T074128Z/candidate-acceptance.json</a:t>
            </a:r>
          </a:p>
          <a:p xmlns:a="http://schemas.openxmlformats.org/drawingml/2006/main">
            <a:r>
              <a:t>SHA-256 8beacc29ac7f2046c338383d483d4b95a1c1eacd15f5a0a915286f366a199e49</a:t>
            </a:r>
          </a:p>
          <a:p xmlns:a="http://schemas.openxmlformats.org/drawingml/2006/main">
            <a:r>
              <a:t/>
            </a:r>
          </a:p>
          <a:p xmlns:a="http://schemas.openxmlformats.org/drawingml/2006/main">
            <a:r>
              <a:t>/Users/frank/mygit/Tablekeeper/runs/judged-attempts/attempt-3/dispatch-verification.json</a:t>
            </a:r>
          </a:p>
          <a:p xmlns:a="http://schemas.openxmlformats.org/drawingml/2006/main">
            <a:r>
              <a:t>SHA-256 5f0b8ed16d8034b95dd544b7e579eea6477e01d73083be27fa57ca4f49cfb545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Reviewer rejected candidate739b1bf79c631dedb528d503800b954fbd3e61d9 at2026-10-04T07:45:04.033814Z. Finding TK-S1-REVIEW-F1: RegExp.test coerced arrays to strings. Backend repaired exact candidate52a179d778b3052acf68c8aafeec62aac8ae6ecd. Independent Reviewer acceptance completed08:07:29.498771Z, event a75434a1-4acb-48a6-acc9-e9cfbe82b0a5. Reviewer did not author repairs. The post-repair probe tested salt/hash/algorithm and N/r/p type mutations. The latter original fields were numeric despite inherited string wording in the log.</a:t>
            </a:r>
          </a:p>
          <a:p xmlns:a="http://schemas.openxmlformats.org/drawingml/2006/main">
            <a:r>
              <a:t/>
            </a:r>
          </a:p>
          <a:p xmlns:a="http://schemas.openxmlformats.org/drawingml/2006/main">
            <a:r>
              <a:t>Sources</a:t>
            </a:r>
          </a:p>
          <a:p xmlns:a="http://schemas.openxmlformats.org/drawingml/2006/main">
            <a:r>
              <a:t>/Users/frank/mygit/Tablekeeper/result-run-3/.evidence/reviewer-s1-20261004T074128Z/candidate-acceptance.json</a:t>
            </a:r>
          </a:p>
          <a:p xmlns:a="http://schemas.openxmlformats.org/drawingml/2006/main">
            <a:r>
              <a:t>SHA-256 8beacc29ac7f2046c338383d483d4b95a1c1eacd15f5a0a915286f366a199e49</a:t>
            </a:r>
          </a:p>
          <a:p xmlns:a="http://schemas.openxmlformats.org/drawingml/2006/main">
            <a:r>
              <a:t/>
            </a:r>
          </a:p>
          <a:p xmlns:a="http://schemas.openxmlformats.org/drawingml/2006/main">
            <a:r>
              <a:t>/Users/frank/mygit/Tablekeeper/result-run-3/.evidence/reviewer-s1-f1-20261004T080315Z/candidate-acceptance.json</a:t>
            </a:r>
          </a:p>
          <a:p xmlns:a="http://schemas.openxmlformats.org/drawingml/2006/main">
            <a:r>
              <a:t>SHA-256 021fab4786fa4ec11c6570ea32d35b7200f99ff4f8562228d0d7af83b4004069</a:t>
            </a:r>
          </a:p>
          <a:p xmlns:a="http://schemas.openxmlformats.org/drawingml/2006/main">
            <a:r>
              <a:t/>
            </a:r>
          </a:p>
          <a:p xmlns:a="http://schemas.openxmlformats.org/drawingml/2006/main">
            <a:r>
              <a:t>/Users/frank/mygit/Tablekeeper/result-run-3/.evidence/reviewer-s1-f1-20261004T080315Z/official/report.json</a:t>
            </a:r>
          </a:p>
          <a:p xmlns:a="http://schemas.openxmlformats.org/drawingml/2006/main">
            <a:r>
              <a:t>SHA-256 974648b6d8e8fae535eb9ebd1dc17fa34b84beeb095f0c102f233f1af9c63665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isolated run2295b9f974b64c99a0859b1a90af91af completed08:04:03.540979Z from a clean detached reviewer clone of52a179d778b3052acf68c8aafeec62aac8ae6ecd. All120 checks passed with zero failed/errors/skipped/deselected/xfailed. Native chart values derive from stage-1.counts.json and sum to120. Stage1 tree4917af2a996c6e3327933deb84281ad29a30c1f1 matches accepted candidate and later package27f677a9ca93ba1f4e80aa6fdb87392e7f89ec84. Limitations: exact cutoff millisecond equality was owner domain evidence only, exhaustive scheduler interleavings and large-history scaling remain untested. Fresh remote-clone report at27f677a9ca93ba1f4e80aa6fdb87392e7f89ec84 completed2026-10-04T16:46:51.105131Z in isolated mode, claimedStage1 and120/120 with zero skips. This operator re-verification supplements the original independent seat acceptance. External judging is separate.</a:t>
            </a:r>
          </a:p>
          <a:p xmlns:a="http://schemas.openxmlformats.org/drawingml/2006/main">
            <a:r>
              <a:t/>
            </a:r>
          </a:p>
          <a:p xmlns:a="http://schemas.openxmlformats.org/drawingml/2006/main">
            <a:r>
              <a:t>Sources</a:t>
            </a:r>
          </a:p>
          <a:p xmlns:a="http://schemas.openxmlformats.org/drawingml/2006/main">
            <a:r>
              <a:t>/Users/frank/mygit/Tablekeeper/result-run-3/.evidence/reviewer-s1-f1-20261004T080315Z/official/report.json</a:t>
            </a:r>
          </a:p>
          <a:p xmlns:a="http://schemas.openxmlformats.org/drawingml/2006/main">
            <a:r>
              <a:t>SHA-256 974648b6d8e8fae535eb9ebd1dc17fa34b84beeb095f0c102f233f1af9c63665</a:t>
            </a:r>
          </a:p>
          <a:p xmlns:a="http://schemas.openxmlformats.org/drawingml/2006/main">
            <a:r>
              <a:t/>
            </a:r>
          </a:p>
          <a:p xmlns:a="http://schemas.openxmlformats.org/drawingml/2006/main">
            <a:r>
              <a:t>/Users/frank/mygit/Tablekeeper/result-run-3/.evidence/reviewer-s1-f1-20261004T080315Z/official/stage-1.counts.json</a:t>
            </a:r>
          </a:p>
          <a:p xmlns:a="http://schemas.openxmlformats.org/drawingml/2006/main">
            <a:r>
              <a:t>SHA-256 b18fabdbadab8f1094c6b47d09dd89a3e3215cb6c471340343c5f8787e30b77b</a:t>
            </a:r>
          </a:p>
          <a:p xmlns:a="http://schemas.openxmlformats.org/drawingml/2006/main">
            <a:r>
              <a:t/>
            </a:r>
          </a:p>
          <a:p xmlns:a="http://schemas.openxmlformats.org/drawingml/2006/main">
            <a:r>
              <a:t>/Users/frank/mygit/Tablekeeper/result-run-3/.evidence/reviewer-s1-f1-20261004T080315Z/candidate-acceptance.json</a:t>
            </a:r>
          </a:p>
          <a:p xmlns:a="http://schemas.openxmlformats.org/drawingml/2006/main">
            <a:r>
              <a:t>SHA-256 021fab4786fa4ec11c6570ea32d35b7200f99ff4f8562228d0d7af83b4004069</a:t>
            </a:r>
          </a:p>
          <a:p xmlns:a="http://schemas.openxmlformats.org/drawingml/2006/main">
            <a:r>
              <a:t/>
            </a:r>
          </a:p>
          <a:p xmlns:a="http://schemas.openxmlformats.org/drawingml/2006/main">
            <a:r>
              <a:t>/Users/frank/mygit/Tablekeeper/runs/run3-preservation-20261004T164154Z/manifest.json</a:t>
            </a:r>
          </a:p>
          <a:p xmlns:a="http://schemas.openxmlformats.org/drawingml/2006/main">
            <a:r>
              <a:t>SHA-256 cdb28c7ba4936973b7e591b1dbc699e1f14339b13e620c3944d2c113e0d4f5e7</a:t>
            </a:r>
          </a:p>
          <a:p xmlns:a="http://schemas.openxmlformats.org/drawingml/2006/main">
            <a:r>
              <a:t/>
            </a:r>
          </a:p>
          <a:p xmlns:a="http://schemas.openxmlformats.org/drawingml/2006/main">
            <a:r>
              <a:t>/Users/frank/mygit/Tablekeeper/runs/run3-fresh-clone-check-20261004T164501Z/official/stage-1/report.json</a:t>
            </a:r>
          </a:p>
          <a:p xmlns:a="http://schemas.openxmlformats.org/drawingml/2006/main">
            <a:r>
              <a:t>SHA-256 6f4a437bbd4ff07f8aeb82417db772f7eb78d68fe089d1288fddbfa55fccb0d3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Stop timestamp08:47:13.088667Z comes from preserved runtime owner metadata. Incident turn:pm:176:b16a0893-a4c8-4873-a95e-6f0f7cb510b6 ended in blocked_coordinator_self_notice. All12 outbound parts of TK-S2-BACKEND-D1 were confirmed. The receipt deadline08:46:47.552872Z matured during Backend callback6 with callbacks1–5complete. By operator stop08:47:13,callbacks1–8were complete. Original runtime did not record SDKqueue depth or the pending-event location. SDK callback serialization supports a pending-work diagnosis by inference; four measured local queue entries are not claimed. Do not describe messages as lost, manufacture a recipient ACK, claim post-stop live repair success or infer Stage2 implementation. The approved overall run window later expired at2026-10-04T13:29:59.700437Z. No further live work is authorized by this deck.</a:t>
            </a:r>
          </a:p>
          <a:p xmlns:a="http://schemas.openxmlformats.org/drawingml/2006/main">
            <a:r>
              <a:t/>
            </a:r>
          </a:p>
          <a:p xmlns:a="http://schemas.openxmlformats.org/drawingml/2006/main">
            <a:r>
              <a:t>Sources</a:t>
            </a:r>
          </a:p>
          <a:p xmlns:a="http://schemas.openxmlformats.org/drawingml/2006/main">
            <a:r>
              <a:t>/Users/frank/mygit/Tablekeeper/runs/judged-attempts/attempt-3/dispatch-verification.json</a:t>
            </a:r>
          </a:p>
          <a:p xmlns:a="http://schemas.openxmlformats.org/drawingml/2006/main">
            <a:r>
              <a:t>SHA-256 5f0b8ed16d8034b95dd544b7e579eea6477e01d73083be27fa57ca4f49cfb545</a:t>
            </a:r>
          </a:p>
          <a:p xmlns:a="http://schemas.openxmlformats.org/drawingml/2006/main">
            <a:r>
              <a:t/>
            </a:r>
          </a:p>
          <a:p xmlns:a="http://schemas.openxmlformats.org/drawingml/2006/main">
            <a:r>
              <a:t>/Users/frank/mygit/Tablekeeper/result-run-3/.evidence/reviewer-s1-20261004T074128Z/candidate-acceptance.json</a:t>
            </a:r>
          </a:p>
          <a:p xmlns:a="http://schemas.openxmlformats.org/drawingml/2006/main">
            <a:r>
              <a:t>SHA-256 8beacc29ac7f2046c338383d483d4b95a1c1eacd15f5a0a915286f366a199e49</a:t>
            </a:r>
          </a:p>
          <a:p xmlns:a="http://schemas.openxmlformats.org/drawingml/2006/main">
            <a:r>
              <a:t/>
            </a:r>
          </a:p>
          <a:p xmlns:a="http://schemas.openxmlformats.org/drawingml/2006/main">
            <a:r>
              <a:t>/Users/frank/mygit/Tablekeeper/result-run-3/.evidence/reviewer-s1-f1-20261004T080315Z/candidate-acceptance.json</a:t>
            </a:r>
          </a:p>
          <a:p xmlns:a="http://schemas.openxmlformats.org/drawingml/2006/main">
            <a:r>
              <a:t>SHA-256 021fab4786fa4ec11c6570ea32d35b7200f99ff4f8562228d0d7af83b4004069</a:t>
            </a:r>
          </a:p>
          <a:p xmlns:a="http://schemas.openxmlformats.org/drawingml/2006/main">
            <a:r>
              <a:t/>
            </a:r>
          </a:p>
          <a:p xmlns:a="http://schemas.openxmlformats.org/drawingml/2006/main">
            <a:r>
              <a:t>/Users/frank/mygit/Tablekeeper/runs/run3-preservation-20261004T164154Z/runtime/workflow-9b059f6b-ee17-44bd-99cd-0277cf602a81.json</a:t>
            </a:r>
          </a:p>
          <a:p xmlns:a="http://schemas.openxmlformats.org/drawingml/2006/main">
            <a:r>
              <a:t>SHA-256 2613731069626ba82e171c69a1814bff64598e0fbe3bb8d0f4f9fb785c669b48</a:t>
            </a:r>
          </a:p>
          <a:p xmlns:a="http://schemas.openxmlformats.org/drawingml/2006/main">
            <a:r>
              <a:t/>
            </a:r>
          </a:p>
          <a:p xmlns:a="http://schemas.openxmlformats.org/drawingml/2006/main">
            <a:r>
              <a:t>/Users/frank/mygit/Tablekeeper/runs/run3-preservation-20261004T164154Z/manifest.json</a:t>
            </a:r>
          </a:p>
          <a:p xmlns:a="http://schemas.openxmlformats.org/drawingml/2006/main">
            <a:r>
              <a:t>SHA-256 cdb28c7ba4936973b7e591b1dbc699e1f14339b13e620c3944d2c113e0d4f5e7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accounting: earlier25,815,128 +Run358,265,038 =84,080,166 reported tokens. Approved ceiling100,000,000 leaves15,919,834 arithmetically, not authorization to run after expiry. The native chart uses millions with six decimals for exact underlying values and one decimal for displayed labels. These counters are not measured API charges or remaining subscription quota. One active seat,300 cumulative turns per seat,600-second turns,4h room bound and aggregate deadline2026-10-04T13:29:59.700437Z remained finite. Current total preserved before offline factory maintenance.</a:t>
            </a:r>
          </a:p>
          <a:p xmlns:a="http://schemas.openxmlformats.org/drawingml/2006/main">
            <a:r>
              <a:t/>
            </a:r>
          </a:p>
          <a:p xmlns:a="http://schemas.openxmlformats.org/drawingml/2006/main">
            <a:r>
              <a:t>Sources</a:t>
            </a:r>
          </a:p>
          <a:p xmlns:a="http://schemas.openxmlformats.org/drawingml/2006/main">
            <a:r>
              <a:t>/Users/frank/mygit/Tablekeeper/runs/run3-preservation-20261004T164154Z/runtime/budget-subscription.json</a:t>
            </a:r>
          </a:p>
          <a:p xmlns:a="http://schemas.openxmlformats.org/drawingml/2006/main">
            <a:r>
              <a:t>SHA-256 8616dd56a09d7059b3b19dec5aac45c11d6c67fb06a7338ff6eff1a88fd02d84</a:t>
            </a:r>
          </a:p>
          <a:p xmlns:a="http://schemas.openxmlformats.org/drawingml/2006/main">
            <a:r>
              <a:t/>
            </a:r>
          </a:p>
          <a:p xmlns:a="http://schemas.openxmlformats.org/drawingml/2006/main">
            <a:r>
              <a:t>/Users/frank/mygit/Tablekeeper/runs/run3-preservation-20261004T164154Z/factory/config/factory.yaml</a:t>
            </a:r>
          </a:p>
          <a:p xmlns:a="http://schemas.openxmlformats.org/drawingml/2006/main">
            <a:r>
              <a:t>SHA-256 729b9461b8ff462d6101da994ac679fa9eeede7babd0f5638b055396ed60df47</a:t>
            </a:r>
          </a:p>
          <a:p xmlns:a="http://schemas.openxmlformats.org/drawingml/2006/main">
            <a:r>
              <a:t/>
            </a:r>
          </a:p>
          <a:p xmlns:a="http://schemas.openxmlformats.org/drawingml/2006/main">
            <a:r>
              <a:t>/Users/frank/mygit/Tablekeeper/runs/run3-preservation-20261004T164154Z/manifest.json</a:t>
            </a:r>
          </a:p>
          <a:p xmlns:a="http://schemas.openxmlformats.org/drawingml/2006/main">
            <a:r>
              <a:t>SHA-256 cdb28c7ba4936973b7e591b1dbc699e1f14339b13e620c3944d2c113e0d4f5e7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Genuine BAND console full-session export downloaded2026-10-04T16:42:55.109Z,4,088messages, SHA2562008460d0d1cff521027f03d974ff24c718aed8708584223638f6b754aa7ccae. Original and result-run-3/room.json are byte-identical. Human text event is only c3b8119d-d1e5-45eb-87a8-9d861f7741ec. The earlier offline check flagged only missing README.md and FACTORY.md. The user subsequently requested AI-assisted drafts. The operator completed those separately with explicit disclosure at130e71afa8a8a635918ee387f1511926782aa543. The fresh remote-clone official offline check exited0 at2026-10-04T16:52:26.440648Z with the same accepted Stage1 tree. The manual RUN.md build/start from27f677a returnedhealth200 and the operator stopped its disposable container. These post-run checks do not establish new BAND product acceptance. Their participant-authorship requirement remains unresolved. Do not treat an automated packaging pass as human-authorship evidence. Pinned participant guide line695 requires participant authorship of both narratives. The assistant provides a factual briefing and shotlist outside the judged repository. A recording, public release and final entry submission have not been performed by this preparation.</a:t>
            </a:r>
          </a:p>
          <a:p xmlns:a="http://schemas.openxmlformats.org/drawingml/2006/main">
            <a:r>
              <a:t/>
            </a:r>
          </a:p>
          <a:p xmlns:a="http://schemas.openxmlformats.org/drawingml/2006/main">
            <a:r>
              <a:t>Sources</a:t>
            </a:r>
          </a:p>
          <a:p xmlns:a="http://schemas.openxmlformats.org/drawingml/2006/main">
            <a:r>
              <a:t>/Users/frank/mygit/Tablekeeper/runs/run3-preservation-20261004T164154Z/full-session-export-provenance.json</a:t>
            </a:r>
          </a:p>
          <a:p xmlns:a="http://schemas.openxmlformats.org/drawingml/2006/main">
            <a:r>
              <a:t>SHA-256 f277dc64d4c6c1d8e86fd7d2edb538cdbf2d3c3c2fc1c0956e4173a84528bb9c</a:t>
            </a:r>
          </a:p>
          <a:p xmlns:a="http://schemas.openxmlformats.org/drawingml/2006/main">
            <a:r>
              <a:t/>
            </a:r>
          </a:p>
          <a:p xmlns:a="http://schemas.openxmlformats.org/drawingml/2006/main">
            <a:r>
              <a:t>/Users/frank/mygit/Tablekeeper/factory/docs/sources/participant-guide.md</a:t>
            </a:r>
          </a:p>
          <a:p xmlns:a="http://schemas.openxmlformats.org/drawingml/2006/main">
            <a:r>
              <a:t>SHA-256 1533d255c833d7a0aa67f2ef06cde0a5e84d94c7d1c97f73d1818f04cfb685e4</a:t>
            </a:r>
          </a:p>
          <a:p xmlns:a="http://schemas.openxmlformats.org/drawingml/2006/main">
            <a:r>
              <a:t/>
            </a:r>
          </a:p>
          <a:p xmlns:a="http://schemas.openxmlformats.org/drawingml/2006/main">
            <a:r>
              <a:t>/Users/frank/mygit/Tablekeeper/result-run-3/.evidence/reviewer-s1-f1-20261004T080315Z/candidate-acceptance.json</a:t>
            </a:r>
          </a:p>
          <a:p xmlns:a="http://schemas.openxmlformats.org/drawingml/2006/main">
            <a:r>
              <a:t>SHA-256 021fab4786fa4ec11c6570ea32d35b7200f99ff4f8562228d0d7af83b4004069</a:t>
            </a:r>
          </a:p>
          <a:p xmlns:a="http://schemas.openxmlformats.org/drawingml/2006/main">
            <a:r>
              <a:t/>
            </a:r>
          </a:p>
          <a:p xmlns:a="http://schemas.openxmlformats.org/drawingml/2006/main">
            <a:r>
              <a:t>/Users/frank/mygit/Tablekeeper/runs/run3-preservation-20261004T164154Z/manifest.json</a:t>
            </a:r>
          </a:p>
          <a:p xmlns:a="http://schemas.openxmlformats.org/drawingml/2006/main">
            <a:r>
              <a:t>SHA-256 cdb28c7ba4936973b7e591b1dbc699e1f14339b13e620c3944d2c113e0d4f5e7</a:t>
            </a:r>
          </a:p>
          <a:p xmlns:a="http://schemas.openxmlformats.org/drawingml/2006/main">
            <a:r>
              <a:t/>
            </a:r>
          </a:p>
          <a:p xmlns:a="http://schemas.openxmlformats.org/drawingml/2006/main">
            <a:r>
              <a:t>/Users/frank/mygit/Tablekeeper/runs/run3-final-docs-check-20261004/invocation.json</a:t>
            </a:r>
          </a:p>
          <a:p xmlns:a="http://schemas.openxmlformats.org/drawingml/2006/main">
            <a:r>
              <a:t>SHA-256 07e3988d85d128be1b2d4cf9352eaa6535c429cd81d5b59587aa3cb0d1b353db</a:t>
            </a:r>
          </a:p>
          <a:p xmlns:a="http://schemas.openxmlformats.org/drawingml/2006/main">
            <a:r>
              <a:t/>
            </a:r>
          </a:p>
          <a:p xmlns:a="http://schemas.openxmlformats.org/drawingml/2006/main">
            <a:r>
              <a:t>/Users/frank/mygit/Tablekeeper/runs/run3-fresh-clone-check-20261004T164501Z/manual-run-verification.json</a:t>
            </a:r>
          </a:p>
          <a:p xmlns:a="http://schemas.openxmlformats.org/drawingml/2006/main">
            <a:r>
              <a:t>SHA-256 16c7a7e495d159c1aef21094e62bf44bb970c077a99a624195b277c83f33e9a7</a:t>
            </a:r>
          </a:p>
          <a:p xmlns:a="http://schemas.openxmlformats.org/drawingml/2006/main">
            <a:r>
              <a:t/>
            </a:r>
          </a:p>
          <a:p xmlns:a="http://schemas.openxmlformats.org/drawingml/2006/main">
            <a:r>
              <a:t>/Users/frank/mygit/Tablekeeper/runs/run3-final-docs-check-20261004/clone/README.md</a:t>
            </a:r>
          </a:p>
          <a:p xmlns:a="http://schemas.openxmlformats.org/drawingml/2006/main">
            <a:r>
              <a:t>SHA-256 8788e85e9a9f8092d064a8642fb1753ec6235e5e19ea4e6af75e286a47d1a0c3</a:t>
            </a:r>
          </a:p>
          <a:p xmlns:a="http://schemas.openxmlformats.org/drawingml/2006/main">
            <a:r>
              <a:t/>
            </a:r>
          </a:p>
          <a:p xmlns:a="http://schemas.openxmlformats.org/drawingml/2006/main">
            <a:r>
              <a:t>/Users/frank/mygit/Tablekeeper/runs/run3-final-docs-check-20261004/clone/FACTORY.md</a:t>
            </a:r>
          </a:p>
          <a:p xmlns:a="http://schemas.openxmlformats.org/drawingml/2006/main">
            <a:r>
              <a:t>SHA-256 b84fe0c696fb33015f03d8614ecfa530821bd24c0aa5cab86a4adf37d55da583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789427cda64c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3b10095e544047" /><Relationship Type="http://schemas.openxmlformats.org/officeDocument/2006/relationships/slideLayout" Target="/ppt/slideLayouts/slideLayout1.xml" Id="Rf35c576632c74a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5c576632c74a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453c37c0c54142" /><Relationship Type="http://schemas.openxmlformats.org/officeDocument/2006/relationships/notesSlide" Target="/ppt/notesSlides/notesSlide1.xml" Id="Reea546dc1dbc4c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e131d2de6f4dcf" /><Relationship Type="http://schemas.openxmlformats.org/officeDocument/2006/relationships/notesSlide" Target="/ppt/notesSlides/notesSlide2.xml" Id="R0f44c824b60f40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0edbb971c4d4c7d" /><Relationship Type="http://schemas.openxmlformats.org/officeDocument/2006/relationships/notesSlide" Target="/ppt/notesSlides/notesSlide3.xml" Id="Ra45d3ca7d6b44c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301f97e42e4f61" /><Relationship Type="http://schemas.openxmlformats.org/officeDocument/2006/relationships/notesSlide" Target="/ppt/notesSlides/notesSlide4.xml" Id="Rc910de7e608f46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91cdb28e234145" /><Relationship Type="http://schemas.openxmlformats.org/officeDocument/2006/relationships/chart" Target="/ppt/slides/charts/chart1.xml" Id="R8a417b65207b49f6" /><Relationship Type="http://schemas.openxmlformats.org/officeDocument/2006/relationships/notesSlide" Target="/ppt/notesSlides/notesSlide5.xml" Id="R37f8603fc6954d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89a931aea4245d7" /><Relationship Type="http://schemas.openxmlformats.org/officeDocument/2006/relationships/notesSlide" Target="/ppt/notesSlides/notesSlide6.xml" Id="R2074442f03e545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5f703a54b54126" /><Relationship Type="http://schemas.openxmlformats.org/officeDocument/2006/relationships/chart" Target="/ppt/slides/charts/chart2.xml" Id="Rd5e08a2998714c1d" /><Relationship Type="http://schemas.openxmlformats.org/officeDocument/2006/relationships/notesSlide" Target="/ppt/notesSlides/notesSlide7.xml" Id="Rc7393a1f813d4c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53500748ea4bf0" /><Relationship Type="http://schemas.openxmlformats.org/officeDocument/2006/relationships/notesSlide" Target="/ppt/notesSlides/notesSlide8.xml" Id="R1f6bcbc8cbc84bd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Passed</c:v>
          </c:tx>
          <c:spPr>
            <a:solidFill xmlns:a="http://schemas.openxmlformats.org/drawingml/2006/main">
              <a:srgbClr val="007D7D"/>
            </a:solidFill>
          </c:spPr>
          <c:cat>
            <c:strRef>
              <c:f>'Chart Data'!$A$2:$A$7</c:f>
              <c:strCache>
                <c:ptCount val="6"/>
                <c:pt idx="0">
                  <c:v>Health, reset, auth</c:v>
                </c:pt>
                <c:pt idx="1">
                  <c:v>Reservations</c:v>
                </c:pt>
                <c:pt idx="2">
                  <c:v>Availability</c:v>
                </c:pt>
                <c:pt idx="3">
                  <c:v>Retries, time, input</c:v>
                </c:pt>
                <c:pt idx="4">
                  <c:v>Sample checks</c:v>
                </c:pt>
                <c:pt idx="5">
                  <c:v>Seeded state</c:v>
                </c:pt>
              </c:strCache>
            </c:strRef>
          </c:cat>
          <c:val>
            <c:numRef>
              <c:f>'Chart Data'!$B$2:$B$7</c:f>
              <c:numCache>
                <c:formatCode>0</c:formatCode>
                <c:ptCount val="6"/>
                <c:pt idx="0">
                  <c:v>12</c:v>
                </c:pt>
                <c:pt idx="1">
                  <c:v>37</c:v>
                </c:pt>
                <c:pt idx="2">
                  <c:v>18</c:v>
                </c:pt>
                <c:pt idx="3">
                  <c:v>20</c:v>
                </c:pt>
                <c:pt idx="4">
                  <c:v>20</c:v>
                </c:pt>
                <c:pt idx="5">
                  <c:v>13</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83C49"/>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majorGridlines>
          <c:spPr>
            <a:ln xmlns:a="http://schemas.openxmlformats.org/drawingml/2006/main" w="7620">
              <a:solidFill>
                <a:srgbClr val="CFD9D8"/>
              </a:solidFill>
            </a:ln>
          </c:spPr>
        </c:majorGridlines>
        <c:numFmt formatCode="0"/>
        <c:majorTickMark val="none"/>
        <c:minorTickMark val="none"/>
        <c:spPr>
          <a:ln xmlns:a="http://schemas.openxmlformats.org/drawingml/2006/main" w="9525">
            <a:solidFill>
              <a:srgbClr val="CFD9D8"/>
            </a:solidFill>
          </a:ln>
        </c:spPr>
        <c:txPr>
          <a:bodyPr xmlns:a="http://schemas.openxmlformats.org/drawingml/2006/main" anchorCtr="1"/>
          <a:lstStyle xmlns:a="http://schemas.openxmlformats.org/drawingml/2006/main"/>
          <a:p xmlns:a="http://schemas.openxmlformats.org/drawingml/2006/main">
            <a:pPr>
              <a:defRPr sz="1500">
                <a:solidFill>
                  <a:srgbClr val="526871"/>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83C49"/>
                </a:solidFill>
                <a:latin typeface="Arial"/>
                <a:ea typeface="Arial"/>
                <a:cs typeface="Arial"/>
              </a:defRPr>
            </a:pPr>
          </a:p>
        </c:txPr>
        <c:crossAx val="48650112"/>
        <c:crossBetween val="between"/>
      </c:valAx>
      <c:spPr>
        <a:solidFill xmlns:a="http://schemas.openxmlformats.org/drawingml/2006/main">
          <a:srgbClr val="F7F5F0"/>
        </a:solidFill>
        <a:ln xmlns:a="http://schemas.openxmlformats.org/drawingml/2006/main" w="0">
          <a:noFill/>
        </a:ln>
      </c:spPr>
    </c:plotArea>
    <c:plotVisOnly val="1"/>
  </c:chart>
  <c:spPr>
    <a:solidFill xmlns:a="http://schemas.openxmlformats.org/drawingml/2006/main">
      <a:srgbClr val="F7F5F0"/>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Earlier attempts</c:v>
          </c:tx>
          <c:spPr>
            <a:solidFill xmlns:a="http://schemas.openxmlformats.org/drawingml/2006/main">
              <a:srgbClr val="246C91"/>
            </a:solidFill>
          </c:spPr>
          <c:cat>
            <c:strRef>
              <c:f>'Chart Data'!$A$2:$A$2</c:f>
              <c:strCache>
                <c:ptCount val="1"/>
                <c:pt idx="0">
                  <c:v>100M approved ceiling</c:v>
                </c:pt>
              </c:strCache>
            </c:strRef>
          </c:cat>
          <c:val>
            <c:numRef>
              <c:f>'Chart Data'!$B$2:$B$2</c:f>
              <c:numCache>
                <c:formatCode>0.0"M"</c:formatCode>
                <c:ptCount val="1"/>
                <c:pt idx="0">
                  <c:v>25.815128</c:v>
                </c:pt>
              </c:numCache>
            </c:numRef>
          </c:val>
        </c:ser>
        <c:ser>
          <c:idx val="1"/>
          <c:order val="1"/>
          <c:tx>
            <c:v>Run 3</c:v>
          </c:tx>
          <c:spPr>
            <a:solidFill xmlns:a="http://schemas.openxmlformats.org/drawingml/2006/main">
              <a:srgbClr val="007D7D"/>
            </a:solidFill>
          </c:spPr>
          <c:cat>
            <c:strRef>
              <c:f>'Chart Data'!$C$2:$C$2</c:f>
              <c:strCache>
                <c:ptCount val="1"/>
                <c:pt idx="0">
                  <c:v>100M approved ceiling</c:v>
                </c:pt>
              </c:strCache>
            </c:strRef>
          </c:cat>
          <c:val>
            <c:numRef>
              <c:f>'Chart Data'!$D$2:$D$2</c:f>
              <c:numCache>
                <c:formatCode>0.0"M"</c:formatCode>
                <c:ptCount val="1"/>
                <c:pt idx="0">
                  <c:v>58.265038</c:v>
                </c:pt>
              </c:numCache>
            </c:numRef>
          </c:val>
        </c:ser>
        <c:ser>
          <c:idx val="2"/>
          <c:order val="2"/>
          <c:tx>
            <c:v>Unused ceiling</c:v>
          </c:tx>
          <c:spPr>
            <a:solidFill xmlns:a="http://schemas.openxmlformats.org/drawingml/2006/main">
              <a:srgbClr val="647C83"/>
            </a:solidFill>
          </c:spPr>
          <c:cat>
            <c:strRef>
              <c:f>'Chart Data'!$E$2:$E$2</c:f>
              <c:strCache>
                <c:ptCount val="1"/>
                <c:pt idx="0">
                  <c:v>100M approved ceiling</c:v>
                </c:pt>
              </c:strCache>
            </c:strRef>
          </c:cat>
          <c:val>
            <c:numRef>
              <c:f>'Chart Data'!$F$2:$F$2</c:f>
              <c:numCache>
                <c:formatCode>0.0"M"</c:formatCode>
                <c:ptCount val="1"/>
                <c:pt idx="0">
                  <c:v>15.919834</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70"/>
        <c:overlap val="100"/>
        <c:axId val="48650112"/>
        <c:axId val="48672768"/>
      </c:barChart>
      <c:catAx>
        <c:axId val="48650112"/>
        <c:scaling>
          <c:orientation val="minMax"/>
        </c:scaling>
        <c:delete val="0"/>
        <c:axPos val="l"/>
        <c:majorGridlines>
          <c:spPr>
            <a:ln xmlns:a="http://schemas.openxmlformats.org/drawingml/2006/main" w="6668">
              <a:solidFill>
                <a:srgbClr val="CFD9D8"/>
              </a:solidFill>
            </a:ln>
          </c:spPr>
        </c:majorGridlines>
        <c:numFmt formatCode="0&quot;M&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871"/>
                </a:solidFill>
                <a:latin typeface="Arial"/>
                <a:ea typeface="Arial"/>
                <a:cs typeface="Arial"/>
              </a:defRPr>
            </a:pPr>
          </a:p>
        </c:txPr>
        <c:crossAx val="48672768"/>
      </c:catAx>
      <c:valAx>
        <c:axId val="48672768"/>
        <c:scaling>
          <c:orientation val="minMax"/>
          <c:max val="100"/>
          <c:min val="0"/>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7F5F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83C49"/>
              </a:solidFill>
              <a:latin typeface="Arial"/>
              <a:ea typeface="Arial"/>
              <a:cs typeface="Arial"/>
            </a:defRPr>
          </a:pPr>
        </a:p>
      </c:txPr>
    </c:legend>
    <c:plotVisOnly val="1"/>
  </c:chart>
  <c:spPr>
    <a:solidFill xmlns:a="http://schemas.openxmlformats.org/drawingml/2006/main">
      <a:srgbClr val="F7F5F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E3B"/>
        </a:solidFill>
      </p:bgPr>
    </p:bg>
    <p:spTree>
      <p:nvGrpSpPr>
        <p:cNvPr id="1" name=""/>
        <p:cNvGrpSpPr/>
        <p:nvPr/>
      </p:nvGrpSpPr>
      <p:grpSpPr>
        <a:xfrm xmlns:a="http://schemas.openxmlformats.org/drawingml/2006/main"/>
      </p:grpSpPr>
      <p:sp>
        <p:nvSpPr>
          <p:cNvPr id="5" name="MillieMoon">
            <a:extLst xmlns:a="http://schemas.openxmlformats.org/drawingml/2006/main">
              <a:ext uri="{FF2B5EF4-FFF2-40B4-BE49-F238E27FC236}">
                <a16:creationId xmlns:a16="http://schemas.microsoft.com/office/drawing/2014/main" id="{85C21C0E-DDF5-43ED-AAE9-2808489FFECB}"/>
              </a:ext>
            </a:extLst>
          </p:cNvPr>
          <p:cNvSpPr>
            <a:spLocks xmlns:a="http://schemas.openxmlformats.org/drawingml/2006/main" noGrp="1"/>
          </p:cNvSpPr>
          <p:nvPr/>
        </p:nvSpPr>
        <p:spPr>
          <a:xfrm xmlns:a="http://schemas.openxmlformats.org/drawingml/2006/main">
            <a:off x="685800" y="619125"/>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A4D8D1"/>
                </a:solidFill>
                <a:latin typeface="Arial"/>
                <a:ea typeface="Arial"/>
                <a:cs typeface="Arial"/>
              </a:defRPr>
            </a:pPr>
            <a:r>
              <a:rPr sz="2400" b="0">
                <a:solidFill>
                  <a:srgbClr val="A4D8D1"/>
                </a:solidFill>
                <a:latin typeface="Arial"/>
                <a:ea typeface="Arial"/>
                <a:cs typeface="Arial"/>
              </a:rPr>
              <a:t>MillieMoon</a:t>
            </a:r>
          </a:p>
        </p:txBody>
      </p:sp>
      <p:sp>
        <p:nvSpPr>
          <p:cNvPr id="2" name="Tablekeeper&#10;Factory">
            <a:extLst xmlns:a="http://schemas.openxmlformats.org/drawingml/2006/main">
              <a:ext uri="{FF2B5EF4-FFF2-40B4-BE49-F238E27FC236}">
                <a16:creationId xmlns:a16="http://schemas.microsoft.com/office/drawing/2014/main" id="{AE8E948F-B0A2-4A3A-9020-5791DF41A629}"/>
              </a:ext>
            </a:extLst>
          </p:cNvPr>
          <p:cNvSpPr>
            <a:spLocks xmlns:a="http://schemas.openxmlformats.org/drawingml/2006/main" noGrp="1"/>
          </p:cNvSpPr>
          <p:nvPr/>
        </p:nvSpPr>
        <p:spPr>
          <a:xfrm xmlns:a="http://schemas.openxmlformats.org/drawingml/2006/main">
            <a:off x="685800" y="1809750"/>
            <a:ext cx="10382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Tablekeeper</a:t>
            </a:r>
          </a:p>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Factory</a:t>
            </a:r>
          </a:p>
        </p:txBody>
      </p:sp>
      <p:sp>
        <p:nvSpPr>
          <p:cNvPr id="3" name="Run 3 evidence review">
            <a:extLst xmlns:a="http://schemas.openxmlformats.org/drawingml/2006/main">
              <a:ext uri="{FF2B5EF4-FFF2-40B4-BE49-F238E27FC236}">
                <a16:creationId xmlns:a16="http://schemas.microsoft.com/office/drawing/2014/main" id="{254A3A51-2FE1-4CA1-89D6-22C87E2BBBB1}"/>
              </a:ext>
            </a:extLst>
          </p:cNvPr>
          <p:cNvSpPr>
            <a:spLocks xmlns:a="http://schemas.openxmlformats.org/drawingml/2006/main" noGrp="1"/>
          </p:cNvSpPr>
          <p:nvPr/>
        </p:nvSpPr>
        <p:spPr>
          <a:xfrm xmlns:a="http://schemas.openxmlformats.org/drawingml/2006/main">
            <a:off x="723900" y="433387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Run 3 evidence review</a:t>
            </a:r>
          </a:p>
        </p:txBody>
      </p:sp>
      <p:sp>
        <p:nvSpPr>
          <p:cNvPr id="4" name="Stage 1 accepted&#10;4 October 2026">
            <a:extLst xmlns:a="http://schemas.openxmlformats.org/drawingml/2006/main">
              <a:ext uri="{FF2B5EF4-FFF2-40B4-BE49-F238E27FC236}">
                <a16:creationId xmlns:a16="http://schemas.microsoft.com/office/drawing/2014/main" id="{F88CF58C-18EC-4572-90F4-31D1F0211287}"/>
              </a:ext>
            </a:extLst>
          </p:cNvPr>
          <p:cNvSpPr>
            <a:spLocks xmlns:a="http://schemas.openxmlformats.org/drawingml/2006/main" noGrp="1"/>
          </p:cNvSpPr>
          <p:nvPr/>
        </p:nvSpPr>
        <p:spPr>
          <a:xfrm xmlns:a="http://schemas.openxmlformats.org/drawingml/2006/main">
            <a:off x="723900" y="5276850"/>
            <a:ext cx="952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5CCD1"/>
                </a:solidFill>
                <a:latin typeface="Arial"/>
                <a:ea typeface="Arial"/>
                <a:cs typeface="Arial"/>
              </a:defRPr>
            </a:pPr>
            <a:r>
              <a:rPr sz="2025" b="0">
                <a:solidFill>
                  <a:srgbClr val="B5CCD1"/>
                </a:solidFill>
                <a:latin typeface="Arial"/>
                <a:ea typeface="Arial"/>
                <a:cs typeface="Arial"/>
              </a:rPr>
              <a:t>Stage 1 accepted</a:t>
            </a:r>
          </a:p>
          <a:p xmlns:a="http://schemas.openxmlformats.org/drawingml/2006/main">
            <a:pPr algn="l">
              <a:defRPr sz="2025" b="0">
                <a:solidFill>
                  <a:srgbClr val="B5CCD1"/>
                </a:solidFill>
                <a:latin typeface="Arial"/>
                <a:ea typeface="Arial"/>
                <a:cs typeface="Arial"/>
              </a:defRPr>
            </a:pPr>
            <a:r>
              <a:rPr sz="2025" b="0">
                <a:solidFill>
                  <a:srgbClr val="B5CCD1"/>
                </a:solidFill>
                <a:latin typeface="Arial"/>
                <a:ea typeface="Arial"/>
                <a:cs typeface="Arial"/>
              </a:rPr>
              <a:t>4 October 2026</a:t>
            </a:r>
          </a:p>
        </p:txBody>
      </p:sp>
    </p:spTree>
    <p:extLst>
      <p:ext uri="{BB962C8B-B14F-4D97-AF65-F5344CB8AC3E}">
        <p14:creationId xmlns:p14="http://schemas.microsoft.com/office/powerpoint/2010/main" val="905506260"/>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 name="A reservation API with a bounded scope">
            <a:extLst xmlns:a="http://schemas.openxmlformats.org/drawingml/2006/main">
              <a:ext uri="{FF2B5EF4-FFF2-40B4-BE49-F238E27FC236}">
                <a16:creationId xmlns:a16="http://schemas.microsoft.com/office/drawing/2014/main" id="{7143A84B-6ABF-4889-9DDF-760AE3F5F5E0}"/>
              </a:ext>
            </a:extLst>
          </p:cNvPr>
          <p:cNvSpPr>
            <a:spLocks xmlns:a="http://schemas.openxmlformats.org/drawingml/2006/main" noGrp="1"/>
          </p:cNvSpPr>
          <p:nvPr/>
        </p:nvSpPr>
        <p:spPr>
          <a:xfrm xmlns:a="http://schemas.openxmlformats.org/drawingml/2006/main">
            <a:off x="647700" y="495300"/>
            <a:ext cx="108775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C49"/>
                </a:solidFill>
                <a:latin typeface="Arial"/>
                <a:ea typeface="Arial"/>
                <a:cs typeface="Arial"/>
              </a:defRPr>
            </a:pPr>
            <a:r>
              <a:rPr sz="3300" b="1">
                <a:solidFill>
                  <a:srgbClr val="183C49"/>
                </a:solidFill>
                <a:latin typeface="Arial"/>
                <a:ea typeface="Arial"/>
                <a:cs typeface="Arial"/>
              </a:rPr>
              <a:t>A reservation API with a bounded scope</a:t>
            </a:r>
          </a:p>
        </p:txBody>
      </p:sp>
      <p:sp>
        <p:nvSpPr>
          <p:cNvPr id="2" name="02">
            <a:extLst xmlns:a="http://schemas.openxmlformats.org/drawingml/2006/main">
              <a:ext uri="{FF2B5EF4-FFF2-40B4-BE49-F238E27FC236}">
                <a16:creationId xmlns:a16="http://schemas.microsoft.com/office/drawing/2014/main" id="{EE2427C6-0807-4FA1-9C43-FDA7A710F676}"/>
              </a:ext>
            </a:extLst>
          </p:cNvPr>
          <p:cNvSpPr>
            <a:spLocks xmlns:a="http://schemas.openxmlformats.org/drawingml/2006/main" noGrp="1"/>
          </p:cNvSpPr>
          <p:nvPr/>
        </p:nvSpPr>
        <p:spPr>
          <a:xfrm xmlns:a="http://schemas.openxmlformats.org/drawingml/2006/main">
            <a:off x="11049000" y="62960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871"/>
                </a:solidFill>
                <a:latin typeface="Arial"/>
                <a:ea typeface="Arial"/>
                <a:cs typeface="Arial"/>
              </a:defRPr>
            </a:pPr>
            <a:r>
              <a:rPr sz="1350" b="0">
                <a:solidFill>
                  <a:srgbClr val="526871"/>
                </a:solidFill>
                <a:latin typeface="Arial"/>
                <a:ea typeface="Arial"/>
                <a:cs typeface="Arial"/>
              </a:rPr>
              <a:t>02</a:t>
            </a:r>
          </a:p>
        </p:txBody>
      </p:sp>
      <p:graphicFrame>
        <p:nvGraphicFramePr>
          <p:cNvPr id="7" name=""/>
          <p:cNvGraphicFramePr/>
          <p:nvPr/>
        </p:nvGraphicFramePr>
        <p:xfrm>
          <a:off xmlns:a="http://schemas.openxmlformats.org/drawingml/2006/main" x="647700" y="1857375"/>
          <a:ext xmlns:a="http://schemas.openxmlformats.org/drawingml/2006/main" cx="10896600" cy="3333750"/>
        </p:xfrm>
        <a:graphic xmlns:a="http://schemas.openxmlformats.org/drawingml/2006/main">
          <a:graphicData uri="http://schemas.openxmlformats.org/drawingml/2006/table">
            <a:tbl>
              <a:tblPr firstRow="1" bandRow="0"/>
              <a:tblGrid>
                <a:gridCol w="3762375"/>
                <a:gridCol w="7134225"/>
              </a:tblGrid>
              <a:tr h="666750">
                <a:tc>
                  <a:txBody>
                    <a:bodyPr lIns="133350" tIns="104775" rIns="133350" bIns="104775">
                      <a:noAutofit/>
                    </a:bodyPr>
                    <a:lstStyle/>
                    <a:p>
                      <a:r>
                        <a:rPr sz="1875" b="1">
                          <a:solidFill>
                            <a:srgbClr val="FFFFFF"/>
                          </a:solidFill>
                          <a:latin typeface="Arial"/>
                          <a:ea typeface="Arial"/>
                          <a:cs typeface="Arial"/>
                        </a:rPr>
                        <a:t>Delivered in Stage 1</a:t>
                      </a:r>
                    </a:p>
                  </a:txBody>
                  <a:tcPr marL="91440" marR="91440" marT="45720" marB="45720" anchor="ctr">
                    <a:solidFill>
                      <a:srgbClr val="102E3B"/>
                    </a:solidFill>
                  </a:tcPr>
                </a:tc>
                <a:tc>
                  <a:txBody>
                    <a:bodyPr lIns="133350" tIns="104775" rIns="133350" bIns="104775">
                      <a:noAutofit/>
                    </a:bodyPr>
                    <a:lstStyle/>
                    <a:p>
                      <a:r>
                        <a:rPr sz="1875" b="1">
                          <a:solidFill>
                            <a:srgbClr val="FFFFFF"/>
                          </a:solidFill>
                          <a:latin typeface="Arial"/>
                          <a:ea typeface="Arial"/>
                          <a:cs typeface="Arial"/>
                        </a:rPr>
                        <a:t>Evidence scope</a:t>
                      </a:r>
                    </a:p>
                  </a:txBody>
                  <a:tcPr marL="91440" marR="91440" marT="45720" marB="45720" anchor="ctr">
                    <a:solidFill>
                      <a:srgbClr val="102E3B"/>
                    </a:solidFill>
                  </a:tcPr>
                </a:tc>
              </a:tr>
              <a:tr h="666750">
                <a:tc>
                  <a:txBody>
                    <a:bodyPr lIns="133350" tIns="104775" rIns="133350" bIns="104775">
                      <a:noAutofit/>
                    </a:bodyPr>
                    <a:lstStyle/>
                    <a:p>
                      <a:r>
                        <a:rPr sz="1875" b="0">
                          <a:solidFill>
                            <a:srgbClr val="183C49"/>
                          </a:solidFill>
                          <a:latin typeface="Arial"/>
                          <a:ea typeface="Arial"/>
                          <a:cs typeface="Arial"/>
                        </a:rPr>
                        <a:t>Search and booking</a:t>
                      </a:r>
                    </a:p>
                  </a:txBody>
                  <a:tcPr marL="91440" marR="91440" marT="45720" marB="45720" anchor="ctr">
                    <a:solidFill>
                      <a:srgbClr val="FFFFFF"/>
                    </a:solidFill>
                  </a:tcPr>
                </a:tc>
                <a:tc>
                  <a:txBody>
                    <a:bodyPr lIns="133350" tIns="104775" rIns="133350" bIns="104775">
                      <a:noAutofit/>
                    </a:bodyPr>
                    <a:lstStyle/>
                    <a:p>
                      <a:r>
                        <a:rPr sz="1875" b="0">
                          <a:solidFill>
                            <a:srgbClr val="183C49"/>
                          </a:solidFill>
                          <a:latin typeface="Arial"/>
                          <a:ea typeface="Arial"/>
                          <a:cs typeface="Arial"/>
                        </a:rPr>
                        <a:t>Availability, reservations and ownership</a:t>
                      </a:r>
                    </a:p>
                  </a:txBody>
                  <a:tcPr marL="91440" marR="91440" marT="45720" marB="45720" anchor="ctr">
                    <a:solidFill>
                      <a:srgbClr val="FFFFFF"/>
                    </a:solidFill>
                  </a:tcPr>
                </a:tc>
              </a:tr>
              <a:tr h="666750">
                <a:tc>
                  <a:txBody>
                    <a:bodyPr lIns="133350" tIns="104775" rIns="133350" bIns="104775">
                      <a:noAutofit/>
                    </a:bodyPr>
                    <a:lstStyle/>
                    <a:p>
                      <a:r>
                        <a:rPr sz="1875" b="0">
                          <a:solidFill>
                            <a:srgbClr val="183C49"/>
                          </a:solidFill>
                          <a:latin typeface="Arial"/>
                          <a:ea typeface="Arial"/>
                          <a:cs typeface="Arial"/>
                        </a:rPr>
                        <a:t>Changes and retries</a:t>
                      </a:r>
                    </a:p>
                  </a:txBody>
                  <a:tcPr marL="91440" marR="91440" marT="45720" marB="45720" anchor="ctr">
                    <a:solidFill>
                      <a:srgbClr val="FFFFFF"/>
                    </a:solidFill>
                  </a:tcPr>
                </a:tc>
                <a:tc>
                  <a:txBody>
                    <a:bodyPr lIns="133350" tIns="104775" rIns="133350" bIns="104775">
                      <a:noAutofit/>
                    </a:bodyPr>
                    <a:lstStyle/>
                    <a:p>
                      <a:r>
                        <a:rPr sz="1875" b="0">
                          <a:solidFill>
                            <a:srgbClr val="183C49"/>
                          </a:solidFill>
                          <a:latin typeface="Arial"/>
                          <a:ea typeface="Arial"/>
                          <a:cs typeface="Arial"/>
                        </a:rPr>
                        <a:t>Atomic amendments and original receipts</a:t>
                      </a:r>
                    </a:p>
                  </a:txBody>
                  <a:tcPr marL="91440" marR="91440" marT="45720" marB="45720" anchor="ctr">
                    <a:solidFill>
                      <a:srgbClr val="FFFFFF"/>
                    </a:solidFill>
                  </a:tcPr>
                </a:tc>
              </a:tr>
              <a:tr h="666750">
                <a:tc>
                  <a:txBody>
                    <a:bodyPr lIns="133350" tIns="104775" rIns="133350" bIns="104775">
                      <a:noAutofit/>
                    </a:bodyPr>
                    <a:lstStyle/>
                    <a:p>
                      <a:r>
                        <a:rPr sz="1875" b="0">
                          <a:solidFill>
                            <a:srgbClr val="183C49"/>
                          </a:solidFill>
                          <a:latin typeface="Arial"/>
                          <a:ea typeface="Arial"/>
                          <a:cs typeface="Arial"/>
                        </a:rPr>
                        <a:t>Time and portability</a:t>
                      </a:r>
                    </a:p>
                  </a:txBody>
                  <a:tcPr marL="91440" marR="91440" marT="45720" marB="45720" anchor="ctr">
                    <a:solidFill>
                      <a:srgbClr val="FFFFFF"/>
                    </a:solidFill>
                  </a:tcPr>
                </a:tc>
                <a:tc>
                  <a:txBody>
                    <a:bodyPr lIns="133350" tIns="104775" rIns="133350" bIns="104775">
                      <a:noAutofit/>
                    </a:bodyPr>
                    <a:lstStyle/>
                    <a:p>
                      <a:r>
                        <a:rPr sz="1875" b="0">
                          <a:solidFill>
                            <a:srgbClr val="183C49"/>
                          </a:solidFill>
                          <a:latin typeface="Arial"/>
                          <a:ea typeface="Arial"/>
                          <a:cs typeface="Arial"/>
                        </a:rPr>
                        <a:t>Timezone rules and state transfer</a:t>
                      </a:r>
                    </a:p>
                  </a:txBody>
                  <a:tcPr marL="91440" marR="91440" marT="45720" marB="45720" anchor="ctr">
                    <a:solidFill>
                      <a:srgbClr val="FFFFFF"/>
                    </a:solidFill>
                  </a:tcPr>
                </a:tc>
              </a:tr>
              <a:tr h="666750">
                <a:tc>
                  <a:txBody>
                    <a:bodyPr lIns="133350" tIns="104775" rIns="133350" bIns="104775">
                      <a:noAutofit/>
                    </a:bodyPr>
                    <a:lstStyle/>
                    <a:p>
                      <a:r>
                        <a:rPr sz="1875" b="0">
                          <a:solidFill>
                            <a:srgbClr val="183C49"/>
                          </a:solidFill>
                          <a:latin typeface="Arial"/>
                          <a:ea typeface="Arial"/>
                          <a:cs typeface="Arial"/>
                        </a:rPr>
                        <a:t>Standalone container</a:t>
                      </a:r>
                    </a:p>
                  </a:txBody>
                  <a:tcPr marL="91440" marR="91440" marT="45720" marB="45720" anchor="ctr">
                    <a:solidFill>
                      <a:srgbClr val="FFFFFF"/>
                    </a:solidFill>
                  </a:tcPr>
                </a:tc>
                <a:tc>
                  <a:txBody>
                    <a:bodyPr lIns="133350" tIns="104775" rIns="133350" bIns="104775">
                      <a:noAutofit/>
                    </a:bodyPr>
                    <a:lstStyle/>
                    <a:p>
                      <a:r>
                        <a:rPr sz="1875" b="0">
                          <a:solidFill>
                            <a:srgbClr val="183C49"/>
                          </a:solidFill>
                          <a:latin typeface="Arial"/>
                          <a:ea typeface="Arial"/>
                          <a:cs typeface="Arial"/>
                        </a:rPr>
                        <a:t>Dockerfile, RUN.md and packaged runtime</a:t>
                      </a:r>
                    </a:p>
                  </a:txBody>
                  <a:tcPr marL="91440" marR="91440" marT="45720" marB="45720" anchor="ctr">
                    <a:solidFill>
                      <a:srgbClr val="FFFFFF"/>
                    </a:solidFill>
                  </a:tcPr>
                </a:tc>
              </a:tr>
            </a:tbl>
          </a:graphicData>
        </a:graphic>
      </p:graphicFrame>
      <p:sp>
        <p:nvSpPr>
          <p:cNvPr id="4" name="Stage 2 has architecture and design plans only.&#10;No S">
            <a:extLst xmlns:a="http://schemas.openxmlformats.org/drawingml/2006/main">
              <a:ext uri="{FF2B5EF4-FFF2-40B4-BE49-F238E27FC236}">
                <a16:creationId xmlns:a16="http://schemas.microsoft.com/office/drawing/2014/main" id="{8438B769-D78F-4CA4-A3E7-8B29C7416A70}"/>
              </a:ext>
            </a:extLst>
          </p:cNvPr>
          <p:cNvSpPr>
            <a:spLocks xmlns:a="http://schemas.openxmlformats.org/drawingml/2006/main" noGrp="1"/>
          </p:cNvSpPr>
          <p:nvPr/>
        </p:nvSpPr>
        <p:spPr>
          <a:xfrm xmlns:a="http://schemas.openxmlformats.org/drawingml/2006/main">
            <a:off x="647700" y="55054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99520D"/>
                </a:solidFill>
                <a:latin typeface="Arial"/>
                <a:ea typeface="Arial"/>
                <a:cs typeface="Arial"/>
              </a:defRPr>
            </a:pPr>
            <a:r>
              <a:rPr sz="2025" b="1">
                <a:solidFill>
                  <a:srgbClr val="99520D"/>
                </a:solidFill>
                <a:latin typeface="Arial"/>
                <a:ea typeface="Arial"/>
                <a:cs typeface="Arial"/>
              </a:rPr>
              <a:t>Stage 2 has architecture and design plans only.</a:t>
            </a:r>
          </a:p>
          <a:p xmlns:a="http://schemas.openxmlformats.org/drawingml/2006/main">
            <a:pPr algn="l">
              <a:defRPr sz="2025" b="1">
                <a:solidFill>
                  <a:srgbClr val="99520D"/>
                </a:solidFill>
                <a:latin typeface="Arial"/>
                <a:ea typeface="Arial"/>
                <a:cs typeface="Arial"/>
              </a:defRPr>
            </a:pPr>
            <a:r>
              <a:rPr sz="2025" b="1">
                <a:solidFill>
                  <a:srgbClr val="99520D"/>
                </a:solidFill>
                <a:latin typeface="Arial"/>
                <a:ea typeface="Arial"/>
                <a:cs typeface="Arial"/>
              </a:rPr>
              <a:t>No Stage 2 application or browser UI exists.</a:t>
            </a:r>
          </a:p>
        </p:txBody>
      </p:sp>
    </p:spTree>
    <p:extLst>
      <p:ext uri="{BB962C8B-B14F-4D97-AF65-F5344CB8AC3E}">
        <p14:creationId xmlns:p14="http://schemas.microsoft.com/office/powerpoint/2010/main" val="1284555765"/>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5" name="Seven seats, one active writer">
            <a:extLst xmlns:a="http://schemas.openxmlformats.org/drawingml/2006/main">
              <a:ext uri="{FF2B5EF4-FFF2-40B4-BE49-F238E27FC236}">
                <a16:creationId xmlns:a16="http://schemas.microsoft.com/office/drawing/2014/main" id="{B20C5B2B-D148-4994-A1BE-2ACA6D5721F4}"/>
              </a:ext>
            </a:extLst>
          </p:cNvPr>
          <p:cNvSpPr>
            <a:spLocks xmlns:a="http://schemas.openxmlformats.org/drawingml/2006/main" noGrp="1"/>
          </p:cNvSpPr>
          <p:nvPr/>
        </p:nvSpPr>
        <p:spPr>
          <a:xfrm xmlns:a="http://schemas.openxmlformats.org/drawingml/2006/main">
            <a:off x="647700" y="495300"/>
            <a:ext cx="108775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C49"/>
                </a:solidFill>
                <a:latin typeface="Arial"/>
                <a:ea typeface="Arial"/>
                <a:cs typeface="Arial"/>
              </a:defRPr>
            </a:pPr>
            <a:r>
              <a:rPr sz="3300" b="1">
                <a:solidFill>
                  <a:srgbClr val="183C49"/>
                </a:solidFill>
                <a:latin typeface="Arial"/>
                <a:ea typeface="Arial"/>
                <a:cs typeface="Arial"/>
              </a:rPr>
              <a:t>Seven seats, one active writer</a:t>
            </a:r>
          </a:p>
        </p:txBody>
      </p:sp>
      <p:sp>
        <p:nvSpPr>
          <p:cNvPr id="2" name="03">
            <a:extLst xmlns:a="http://schemas.openxmlformats.org/drawingml/2006/main">
              <a:ext uri="{FF2B5EF4-FFF2-40B4-BE49-F238E27FC236}">
                <a16:creationId xmlns:a16="http://schemas.microsoft.com/office/drawing/2014/main" id="{56BF4ED7-2F92-44B2-AC21-17AEA0477F74}"/>
              </a:ext>
            </a:extLst>
          </p:cNvPr>
          <p:cNvSpPr>
            <a:spLocks xmlns:a="http://schemas.openxmlformats.org/drawingml/2006/main" noGrp="1"/>
          </p:cNvSpPr>
          <p:nvPr/>
        </p:nvSpPr>
        <p:spPr>
          <a:xfrm xmlns:a="http://schemas.openxmlformats.org/drawingml/2006/main">
            <a:off x="11049000" y="62960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871"/>
                </a:solidFill>
                <a:latin typeface="Arial"/>
                <a:ea typeface="Arial"/>
                <a:cs typeface="Arial"/>
              </a:defRPr>
            </a:pPr>
            <a:r>
              <a:rPr sz="1350" b="0">
                <a:solidFill>
                  <a:srgbClr val="526871"/>
                </a:solidFill>
                <a:latin typeface="Arial"/>
                <a:ea typeface="Arial"/>
                <a:cs typeface="Arial"/>
              </a:rPr>
              <a:t>03</a:t>
            </a:r>
          </a:p>
        </p:txBody>
      </p:sp>
      <p:sp>
        <p:nvSpPr>
          <p:cNvPr id="3" name="PM">
            <a:extLst xmlns:a="http://schemas.openxmlformats.org/drawingml/2006/main">
              <a:ext uri="{FF2B5EF4-FFF2-40B4-BE49-F238E27FC236}">
                <a16:creationId xmlns:a16="http://schemas.microsoft.com/office/drawing/2014/main" id="{90813E5F-C435-4EA7-B6E8-7C07506C348B}"/>
              </a:ext>
            </a:extLst>
          </p:cNvPr>
          <p:cNvSpPr>
            <a:spLocks xmlns:a="http://schemas.openxmlformats.org/drawingml/2006/main" noGrp="1"/>
          </p:cNvSpPr>
          <p:nvPr/>
        </p:nvSpPr>
        <p:spPr>
          <a:xfrm xmlns:a="http://schemas.openxmlformats.org/drawingml/2006/main">
            <a:off x="647700" y="2143125"/>
            <a:ext cx="1809750" cy="1352550"/>
          </a:xfrm>
          <a:prstGeom xmlns:a="http://schemas.openxmlformats.org/drawingml/2006/main" prst="rect">
            <a:avLst/>
          </a:prstGeom>
          <a:solidFill xmlns:a="http://schemas.openxmlformats.org/drawingml/2006/main">
            <a:srgbClr val="FFFFFF"/>
          </a:solidFill>
          <a:ln xmlns:a="http://schemas.openxmlformats.org/drawingml/2006/main" w="13335">
            <a:solidFill>
              <a:srgbClr val="CFD9D8"/>
            </a:solidFill>
          </a:ln>
        </p:spPr>
        <p:txBody>
          <a:bodyPr xmlns:a="http://schemas.openxmlformats.org/drawingml/2006/main" lIns="95250" tIns="114300" rIns="95250" bIns="114300" anchor="ctr">
            <a:noAutofit/>
          </a:bodyPr>
          <a:lstStyle xmlns:a="http://schemas.openxmlformats.org/drawingml/2006/main"/>
          <a:p xmlns:a="http://schemas.openxmlformats.org/drawingml/2006/main">
            <a:pPr algn="ctr">
              <a:defRPr sz="1800">
                <a:solidFill>
                  <a:srgbClr val="183C49"/>
                </a:solidFill>
                <a:latin typeface="Arial"/>
                <a:ea typeface="Arial"/>
                <a:cs typeface="Arial"/>
              </a:defRPr>
            </a:pPr>
            <a:r>
              <a:rPr sz="1800">
                <a:solidFill>
                  <a:srgbClr val="183C49"/>
                </a:solidFill>
                <a:latin typeface="Arial"/>
                <a:ea typeface="Arial"/>
                <a:cs typeface="Arial"/>
              </a:rPr>
              <a:t>PM</a:t>
            </a:r>
          </a:p>
          <a:p xmlns:a="http://schemas.openxmlformats.org/drawingml/2006/main">
            <a:pPr algn="ctr">
              <a:defRPr sz="1800">
                <a:solidFill>
                  <a:srgbClr val="183C49"/>
                </a:solidFill>
                <a:latin typeface="Arial"/>
                <a:ea typeface="Arial"/>
                <a:cs typeface="Arial"/>
              </a:defRPr>
            </a:pPr>
            <a:r>
              <a:rPr sz="1800">
                <a:solidFill>
                  <a:srgbClr val="183C49"/>
                </a:solidFill>
                <a:latin typeface="Arial"/>
                <a:ea typeface="Arial"/>
                <a:cs typeface="Arial"/>
              </a:rPr>
              <a:t>Assignments</a:t>
            </a:r>
          </a:p>
        </p:txBody>
      </p:sp>
      <p:sp>
        <p:nvSpPr>
          <p:cNvPr id="4" name="Architect">
            <a:extLst xmlns:a="http://schemas.openxmlformats.org/drawingml/2006/main">
              <a:ext uri="{FF2B5EF4-FFF2-40B4-BE49-F238E27FC236}">
                <a16:creationId xmlns:a16="http://schemas.microsoft.com/office/drawing/2014/main" id="{E19AA9A8-6184-4314-AB27-87B2232E4581}"/>
              </a:ext>
            </a:extLst>
          </p:cNvPr>
          <p:cNvSpPr>
            <a:spLocks xmlns:a="http://schemas.openxmlformats.org/drawingml/2006/main" noGrp="1"/>
          </p:cNvSpPr>
          <p:nvPr/>
        </p:nvSpPr>
        <p:spPr>
          <a:xfrm xmlns:a="http://schemas.openxmlformats.org/drawingml/2006/main">
            <a:off x="2886075" y="2143125"/>
            <a:ext cx="1809750" cy="1352550"/>
          </a:xfrm>
          <a:prstGeom xmlns:a="http://schemas.openxmlformats.org/drawingml/2006/main" prst="rect">
            <a:avLst/>
          </a:prstGeom>
          <a:solidFill xmlns:a="http://schemas.openxmlformats.org/drawingml/2006/main">
            <a:srgbClr val="FFFFFF"/>
          </a:solidFill>
          <a:ln xmlns:a="http://schemas.openxmlformats.org/drawingml/2006/main" w="13335">
            <a:solidFill>
              <a:srgbClr val="CFD9D8"/>
            </a:solidFill>
          </a:ln>
        </p:spPr>
        <p:txBody>
          <a:bodyPr xmlns:a="http://schemas.openxmlformats.org/drawingml/2006/main" lIns="95250" tIns="114300" rIns="95250" bIns="114300" anchor="ctr">
            <a:noAutofit/>
          </a:bodyPr>
          <a:lstStyle xmlns:a="http://schemas.openxmlformats.org/drawingml/2006/main"/>
          <a:p xmlns:a="http://schemas.openxmlformats.org/drawingml/2006/main">
            <a:pPr algn="ctr">
              <a:defRPr sz="1800">
                <a:solidFill>
                  <a:srgbClr val="183C49"/>
                </a:solidFill>
                <a:latin typeface="Arial"/>
                <a:ea typeface="Arial"/>
                <a:cs typeface="Arial"/>
              </a:defRPr>
            </a:pPr>
            <a:r>
              <a:rPr sz="1800">
                <a:solidFill>
                  <a:srgbClr val="183C49"/>
                </a:solidFill>
                <a:latin typeface="Arial"/>
                <a:ea typeface="Arial"/>
                <a:cs typeface="Arial"/>
              </a:rPr>
              <a:t>Architect</a:t>
            </a:r>
          </a:p>
          <a:p xmlns:a="http://schemas.openxmlformats.org/drawingml/2006/main">
            <a:pPr algn="ctr">
              <a:defRPr sz="1800">
                <a:solidFill>
                  <a:srgbClr val="183C49"/>
                </a:solidFill>
                <a:latin typeface="Arial"/>
                <a:ea typeface="Arial"/>
                <a:cs typeface="Arial"/>
              </a:defRPr>
            </a:pPr>
            <a:r>
              <a:rPr sz="1800">
                <a:solidFill>
                  <a:srgbClr val="183C49"/>
                </a:solidFill>
                <a:latin typeface="Arial"/>
                <a:ea typeface="Arial"/>
                <a:cs typeface="Arial"/>
              </a:rPr>
              <a:t>Contracts</a:t>
            </a:r>
          </a:p>
        </p:txBody>
      </p:sp>
      <p:sp>
        <p:nvSpPr>
          <p:cNvPr id="5" name="Backend">
            <a:extLst xmlns:a="http://schemas.openxmlformats.org/drawingml/2006/main">
              <a:ext uri="{FF2B5EF4-FFF2-40B4-BE49-F238E27FC236}">
                <a16:creationId xmlns:a16="http://schemas.microsoft.com/office/drawing/2014/main" id="{41F7889A-13A7-44E3-9EFD-0DA7B4485202}"/>
              </a:ext>
            </a:extLst>
          </p:cNvPr>
          <p:cNvSpPr>
            <a:spLocks xmlns:a="http://schemas.openxmlformats.org/drawingml/2006/main" noGrp="1"/>
          </p:cNvSpPr>
          <p:nvPr/>
        </p:nvSpPr>
        <p:spPr>
          <a:xfrm xmlns:a="http://schemas.openxmlformats.org/drawingml/2006/main">
            <a:off x="5124450" y="2143125"/>
            <a:ext cx="1809750" cy="1352550"/>
          </a:xfrm>
          <a:prstGeom xmlns:a="http://schemas.openxmlformats.org/drawingml/2006/main" prst="rect">
            <a:avLst/>
          </a:prstGeom>
          <a:solidFill xmlns:a="http://schemas.openxmlformats.org/drawingml/2006/main">
            <a:srgbClr val="FFFFFF"/>
          </a:solidFill>
          <a:ln xmlns:a="http://schemas.openxmlformats.org/drawingml/2006/main" w="13335">
            <a:solidFill>
              <a:srgbClr val="CFD9D8"/>
            </a:solidFill>
          </a:ln>
        </p:spPr>
        <p:txBody>
          <a:bodyPr xmlns:a="http://schemas.openxmlformats.org/drawingml/2006/main" lIns="95250" tIns="114300" rIns="95250" bIns="114300" anchor="ctr">
            <a:noAutofit/>
          </a:bodyPr>
          <a:lstStyle xmlns:a="http://schemas.openxmlformats.org/drawingml/2006/main"/>
          <a:p xmlns:a="http://schemas.openxmlformats.org/drawingml/2006/main">
            <a:pPr algn="ctr">
              <a:defRPr sz="1800">
                <a:solidFill>
                  <a:srgbClr val="183C49"/>
                </a:solidFill>
                <a:latin typeface="Arial"/>
                <a:ea typeface="Arial"/>
                <a:cs typeface="Arial"/>
              </a:defRPr>
            </a:pPr>
            <a:r>
              <a:rPr sz="1800">
                <a:solidFill>
                  <a:srgbClr val="183C49"/>
                </a:solidFill>
                <a:latin typeface="Arial"/>
                <a:ea typeface="Arial"/>
                <a:cs typeface="Arial"/>
              </a:rPr>
              <a:t>Backend</a:t>
            </a:r>
          </a:p>
          <a:p xmlns:a="http://schemas.openxmlformats.org/drawingml/2006/main">
            <a:pPr algn="ctr">
              <a:defRPr sz="1800">
                <a:solidFill>
                  <a:srgbClr val="183C49"/>
                </a:solidFill>
                <a:latin typeface="Arial"/>
                <a:ea typeface="Arial"/>
                <a:cs typeface="Arial"/>
              </a:defRPr>
            </a:pPr>
            <a:r>
              <a:rPr sz="1800">
                <a:solidFill>
                  <a:srgbClr val="183C49"/>
                </a:solidFill>
                <a:latin typeface="Arial"/>
                <a:ea typeface="Arial"/>
                <a:cs typeface="Arial"/>
              </a:rPr>
              <a:t>Implementation</a:t>
            </a:r>
          </a:p>
        </p:txBody>
      </p:sp>
      <p:sp>
        <p:nvSpPr>
          <p:cNvPr id="6" name="QA">
            <a:extLst xmlns:a="http://schemas.openxmlformats.org/drawingml/2006/main">
              <a:ext uri="{FF2B5EF4-FFF2-40B4-BE49-F238E27FC236}">
                <a16:creationId xmlns:a16="http://schemas.microsoft.com/office/drawing/2014/main" id="{B8A36472-BD51-4AC2-8EA2-D5279B9BFC6B}"/>
              </a:ext>
            </a:extLst>
          </p:cNvPr>
          <p:cNvSpPr>
            <a:spLocks xmlns:a="http://schemas.openxmlformats.org/drawingml/2006/main" noGrp="1"/>
          </p:cNvSpPr>
          <p:nvPr/>
        </p:nvSpPr>
        <p:spPr>
          <a:xfrm xmlns:a="http://schemas.openxmlformats.org/drawingml/2006/main">
            <a:off x="7362825" y="2143125"/>
            <a:ext cx="1809750" cy="1352550"/>
          </a:xfrm>
          <a:prstGeom xmlns:a="http://schemas.openxmlformats.org/drawingml/2006/main" prst="rect">
            <a:avLst/>
          </a:prstGeom>
          <a:solidFill xmlns:a="http://schemas.openxmlformats.org/drawingml/2006/main">
            <a:srgbClr val="FFFFFF"/>
          </a:solidFill>
          <a:ln xmlns:a="http://schemas.openxmlformats.org/drawingml/2006/main" w="13335">
            <a:solidFill>
              <a:srgbClr val="CFD9D8"/>
            </a:solidFill>
          </a:ln>
        </p:spPr>
        <p:txBody>
          <a:bodyPr xmlns:a="http://schemas.openxmlformats.org/drawingml/2006/main" lIns="95250" tIns="114300" rIns="95250" bIns="114300" anchor="ctr">
            <a:noAutofit/>
          </a:bodyPr>
          <a:lstStyle xmlns:a="http://schemas.openxmlformats.org/drawingml/2006/main"/>
          <a:p xmlns:a="http://schemas.openxmlformats.org/drawingml/2006/main">
            <a:pPr algn="ctr">
              <a:defRPr sz="1800">
                <a:solidFill>
                  <a:srgbClr val="183C49"/>
                </a:solidFill>
                <a:latin typeface="Arial"/>
                <a:ea typeface="Arial"/>
                <a:cs typeface="Arial"/>
              </a:defRPr>
            </a:pPr>
            <a:r>
              <a:rPr sz="1800">
                <a:solidFill>
                  <a:srgbClr val="183C49"/>
                </a:solidFill>
                <a:latin typeface="Arial"/>
                <a:ea typeface="Arial"/>
                <a:cs typeface="Arial"/>
              </a:rPr>
              <a:t>QA</a:t>
            </a:r>
          </a:p>
          <a:p xmlns:a="http://schemas.openxmlformats.org/drawingml/2006/main">
            <a:pPr algn="ctr">
              <a:defRPr sz="1800">
                <a:solidFill>
                  <a:srgbClr val="183C49"/>
                </a:solidFill>
                <a:latin typeface="Arial"/>
                <a:ea typeface="Arial"/>
                <a:cs typeface="Arial"/>
              </a:defRPr>
            </a:pPr>
            <a:r>
              <a:rPr sz="1800">
                <a:solidFill>
                  <a:srgbClr val="183C49"/>
                </a:solidFill>
                <a:latin typeface="Arial"/>
                <a:ea typeface="Arial"/>
                <a:cs typeface="Arial"/>
              </a:rPr>
              <a:t>Independent tests</a:t>
            </a:r>
          </a:p>
        </p:txBody>
      </p:sp>
      <p:sp>
        <p:nvSpPr>
          <p:cNvPr id="7" name="Reviewer">
            <a:extLst xmlns:a="http://schemas.openxmlformats.org/drawingml/2006/main">
              <a:ext uri="{FF2B5EF4-FFF2-40B4-BE49-F238E27FC236}">
                <a16:creationId xmlns:a16="http://schemas.microsoft.com/office/drawing/2014/main" id="{5CECF02C-60C0-469E-8294-6915EDBB6301}"/>
              </a:ext>
            </a:extLst>
          </p:cNvPr>
          <p:cNvSpPr>
            <a:spLocks xmlns:a="http://schemas.openxmlformats.org/drawingml/2006/main" noGrp="1"/>
          </p:cNvSpPr>
          <p:nvPr/>
        </p:nvSpPr>
        <p:spPr>
          <a:xfrm xmlns:a="http://schemas.openxmlformats.org/drawingml/2006/main">
            <a:off x="9601200" y="2143125"/>
            <a:ext cx="1809750" cy="1352550"/>
          </a:xfrm>
          <a:prstGeom xmlns:a="http://schemas.openxmlformats.org/drawingml/2006/main" prst="rect">
            <a:avLst/>
          </a:prstGeom>
          <a:solidFill xmlns:a="http://schemas.openxmlformats.org/drawingml/2006/main">
            <a:srgbClr val="FFFFFF"/>
          </a:solidFill>
          <a:ln xmlns:a="http://schemas.openxmlformats.org/drawingml/2006/main" w="13335">
            <a:solidFill>
              <a:srgbClr val="CFD9D8"/>
            </a:solidFill>
          </a:ln>
        </p:spPr>
        <p:txBody>
          <a:bodyPr xmlns:a="http://schemas.openxmlformats.org/drawingml/2006/main" lIns="95250" tIns="114300" rIns="95250" bIns="114300" anchor="ctr">
            <a:noAutofit/>
          </a:bodyPr>
          <a:lstStyle xmlns:a="http://schemas.openxmlformats.org/drawingml/2006/main"/>
          <a:p xmlns:a="http://schemas.openxmlformats.org/drawingml/2006/main">
            <a:pPr algn="ctr">
              <a:defRPr sz="1800">
                <a:solidFill>
                  <a:srgbClr val="183C49"/>
                </a:solidFill>
                <a:latin typeface="Arial"/>
                <a:ea typeface="Arial"/>
                <a:cs typeface="Arial"/>
              </a:defRPr>
            </a:pPr>
            <a:r>
              <a:rPr sz="1800">
                <a:solidFill>
                  <a:srgbClr val="183C49"/>
                </a:solidFill>
                <a:latin typeface="Arial"/>
                <a:ea typeface="Arial"/>
                <a:cs typeface="Arial"/>
              </a:rPr>
              <a:t>Reviewer</a:t>
            </a:r>
          </a:p>
          <a:p xmlns:a="http://schemas.openxmlformats.org/drawingml/2006/main">
            <a:pPr algn="ctr">
              <a:defRPr sz="1800">
                <a:solidFill>
                  <a:srgbClr val="183C49"/>
                </a:solidFill>
                <a:latin typeface="Arial"/>
                <a:ea typeface="Arial"/>
                <a:cs typeface="Arial"/>
              </a:defRPr>
            </a:pPr>
            <a:r>
              <a:rPr sz="1800">
                <a:solidFill>
                  <a:srgbClr val="183C49"/>
                </a:solidFill>
                <a:latin typeface="Arial"/>
                <a:ea typeface="Arial"/>
                <a:cs typeface="Arial"/>
              </a:rPr>
              <a:t>Release decision</a:t>
            </a:r>
          </a:p>
        </p:txBody>
      </p:sp>
      <p:cxnSp>
        <p:nvCxnSpPr>
          <p:cNvPr id="22" name=""/>
          <p:cNvCxnSpPr>
            <a:stCxn xmlns:a="http://schemas.openxmlformats.org/drawingml/2006/main" id="3" idx="3"/>
            <a:endCxn xmlns:a="http://schemas.openxmlformats.org/drawingml/2006/main" id="4" idx="1"/>
          </p:cNvCxnSpPr>
          <p:nvPr/>
        </p:nvCxnSpPr>
        <p:spPr>
          <a:xfrm xmlns:a="http://schemas.openxmlformats.org/drawingml/2006/main">
            <a:off x="2457450" y="2819400"/>
            <a:ext cx="428625" cy="0"/>
          </a:xfrm>
          <a:prstGeom xmlns:a="http://schemas.openxmlformats.org/drawingml/2006/main" prst="straightConnector1">
            <a:avLst/>
          </a:prstGeom>
          <a:ln xmlns:a="http://schemas.openxmlformats.org/drawingml/2006/main" w="23813">
            <a:solidFill>
              <a:srgbClr val="007D7D"/>
            </a:solidFill>
            <a:tailEnd type="triangle" w="sm" len="sm"/>
          </a:ln>
        </p:spPr>
      </p:cxnSp>
      <p:cxnSp>
        <p:nvCxnSpPr>
          <p:cNvPr id="23" name=""/>
          <p:cNvCxnSpPr>
            <a:stCxn xmlns:a="http://schemas.openxmlformats.org/drawingml/2006/main" id="4" idx="3"/>
            <a:endCxn xmlns:a="http://schemas.openxmlformats.org/drawingml/2006/main" id="5" idx="1"/>
          </p:cNvCxnSpPr>
          <p:nvPr/>
        </p:nvCxnSpPr>
        <p:spPr>
          <a:xfrm xmlns:a="http://schemas.openxmlformats.org/drawingml/2006/main">
            <a:off x="4695825" y="2819400"/>
            <a:ext cx="428625" cy="0"/>
          </a:xfrm>
          <a:prstGeom xmlns:a="http://schemas.openxmlformats.org/drawingml/2006/main" prst="straightConnector1">
            <a:avLst/>
          </a:prstGeom>
          <a:ln xmlns:a="http://schemas.openxmlformats.org/drawingml/2006/main" w="23813">
            <a:solidFill>
              <a:srgbClr val="007D7D"/>
            </a:solidFill>
            <a:tailEnd type="triangle" w="sm" len="sm"/>
          </a:ln>
        </p:spPr>
      </p:cxn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6934200" y="2819400"/>
            <a:ext cx="428625" cy="0"/>
          </a:xfrm>
          <a:prstGeom xmlns:a="http://schemas.openxmlformats.org/drawingml/2006/main" prst="straightConnector1">
            <a:avLst/>
          </a:prstGeom>
          <a:ln xmlns:a="http://schemas.openxmlformats.org/drawingml/2006/main" w="23813">
            <a:solidFill>
              <a:srgbClr val="007D7D"/>
            </a:solidFill>
            <a:tailEnd type="triangle" w="sm" len="sm"/>
          </a:ln>
        </p:spPr>
      </p:cxn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a:off x="9172575" y="2819400"/>
            <a:ext cx="428625" cy="0"/>
          </a:xfrm>
          <a:prstGeom xmlns:a="http://schemas.openxmlformats.org/drawingml/2006/main" prst="straightConnector1">
            <a:avLst/>
          </a:prstGeom>
          <a:ln xmlns:a="http://schemas.openxmlformats.org/drawingml/2006/main" w="23813">
            <a:solidFill>
              <a:srgbClr val="007D7D"/>
            </a:solidFill>
            <a:tailEnd type="triangle" w="sm" len="sm"/>
          </a:ln>
        </p:spPr>
      </p:cxnSp>
      <p:sp>
        <p:nvSpPr>
          <p:cNvPr id="12" name="Stage 1 work moved through separate owners and revie">
            <a:extLst xmlns:a="http://schemas.openxmlformats.org/drawingml/2006/main">
              <a:ext uri="{FF2B5EF4-FFF2-40B4-BE49-F238E27FC236}">
                <a16:creationId xmlns:a16="http://schemas.microsoft.com/office/drawing/2014/main" id="{D4E4766B-1CBC-4831-BE4F-748B42CADFA8}"/>
              </a:ext>
            </a:extLst>
          </p:cNvPr>
          <p:cNvSpPr>
            <a:spLocks xmlns:a="http://schemas.openxmlformats.org/drawingml/2006/main" noGrp="1"/>
          </p:cNvSpPr>
          <p:nvPr/>
        </p:nvSpPr>
        <p:spPr>
          <a:xfrm xmlns:a="http://schemas.openxmlformats.org/drawingml/2006/main">
            <a:off x="647700" y="391477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3C49"/>
                </a:solidFill>
                <a:latin typeface="Arial"/>
                <a:ea typeface="Arial"/>
                <a:cs typeface="Arial"/>
              </a:defRPr>
            </a:pPr>
            <a:r>
              <a:rPr sz="2025" b="0">
                <a:solidFill>
                  <a:srgbClr val="183C49"/>
                </a:solidFill>
                <a:latin typeface="Arial"/>
                <a:ea typeface="Arial"/>
                <a:cs typeface="Arial"/>
              </a:rPr>
              <a:t>Stage 1 work moved through separate owners and reviewers.</a:t>
            </a:r>
          </a:p>
        </p:txBody>
      </p:sp>
      <p:sp>
        <p:nvSpPr>
          <p:cNvPr id="13" name="Designer authored Stage 2 plans.&#10;Frontend remained r">
            <a:extLst xmlns:a="http://schemas.openxmlformats.org/drawingml/2006/main">
              <a:ext uri="{FF2B5EF4-FFF2-40B4-BE49-F238E27FC236}">
                <a16:creationId xmlns:a16="http://schemas.microsoft.com/office/drawing/2014/main" id="{877848BC-915D-4F98-B281-BC91C9F23D5F}"/>
              </a:ext>
            </a:extLst>
          </p:cNvPr>
          <p:cNvSpPr>
            <a:spLocks xmlns:a="http://schemas.openxmlformats.org/drawingml/2006/main" noGrp="1"/>
          </p:cNvSpPr>
          <p:nvPr/>
        </p:nvSpPr>
        <p:spPr>
          <a:xfrm xmlns:a="http://schemas.openxmlformats.org/drawingml/2006/main">
            <a:off x="647700" y="45720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871"/>
                </a:solidFill>
                <a:latin typeface="Arial"/>
                <a:ea typeface="Arial"/>
                <a:cs typeface="Arial"/>
              </a:defRPr>
            </a:pPr>
            <a:r>
              <a:rPr sz="2025" b="0">
                <a:solidFill>
                  <a:srgbClr val="526871"/>
                </a:solidFill>
                <a:latin typeface="Arial"/>
                <a:ea typeface="Arial"/>
                <a:cs typeface="Arial"/>
              </a:rPr>
              <a:t>Designer authored Stage 2 plans.</a:t>
            </a:r>
          </a:p>
          <a:p xmlns:a="http://schemas.openxmlformats.org/drawingml/2006/main">
            <a:pPr algn="l">
              <a:defRPr sz="2025" b="0">
                <a:solidFill>
                  <a:srgbClr val="526871"/>
                </a:solidFill>
                <a:latin typeface="Arial"/>
                <a:ea typeface="Arial"/>
                <a:cs typeface="Arial"/>
              </a:defRPr>
            </a:pPr>
            <a:r>
              <a:rPr sz="2025" b="0">
                <a:solidFill>
                  <a:srgbClr val="526871"/>
                </a:solidFill>
                <a:latin typeface="Arial"/>
                <a:ea typeface="Arial"/>
                <a:cs typeface="Arial"/>
              </a:rPr>
              <a:t>Frontend remained registered with no Stage 2 implementation.</a:t>
            </a:r>
          </a:p>
        </p:txBody>
      </p:sp>
      <p:sp>
        <p:nvSpPr>
          <p:cNvPr id="14" name="All seven: gpt-6-astra on Codex 0.160.0 and BAND SDK">
            <a:extLst xmlns:a="http://schemas.openxmlformats.org/drawingml/2006/main">
              <a:ext uri="{FF2B5EF4-FFF2-40B4-BE49-F238E27FC236}">
                <a16:creationId xmlns:a16="http://schemas.microsoft.com/office/drawing/2014/main" id="{2412B694-49F2-4A27-B1E1-F53CEA5D8187}"/>
              </a:ext>
            </a:extLst>
          </p:cNvPr>
          <p:cNvSpPr>
            <a:spLocks xmlns:a="http://schemas.openxmlformats.org/drawingml/2006/main" noGrp="1"/>
          </p:cNvSpPr>
          <p:nvPr/>
        </p:nvSpPr>
        <p:spPr>
          <a:xfrm xmlns:a="http://schemas.openxmlformats.org/drawingml/2006/main">
            <a:off x="647700" y="57626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7D7D"/>
                </a:solidFill>
                <a:latin typeface="Arial"/>
                <a:ea typeface="Arial"/>
                <a:cs typeface="Arial"/>
              </a:defRPr>
            </a:pPr>
            <a:r>
              <a:rPr sz="1800" b="1">
                <a:solidFill>
                  <a:srgbClr val="007D7D"/>
                </a:solidFill>
                <a:latin typeface="Arial"/>
                <a:ea typeface="Arial"/>
                <a:cs typeface="Arial"/>
              </a:rPr>
              <a:t>All seven: gpt-6-astra on Codex 0.160.0 and BAND SDK 4.0.0</a:t>
            </a:r>
          </a:p>
        </p:txBody>
      </p:sp>
    </p:spTree>
    <p:extLst>
      <p:ext uri="{BB962C8B-B14F-4D97-AF65-F5344CB8AC3E}">
        <p14:creationId xmlns:p14="http://schemas.microsoft.com/office/powerpoint/2010/main" val="68427002"/>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Independent review changed the result">
            <a:extLst xmlns:a="http://schemas.openxmlformats.org/drawingml/2006/main">
              <a:ext uri="{FF2B5EF4-FFF2-40B4-BE49-F238E27FC236}">
                <a16:creationId xmlns:a16="http://schemas.microsoft.com/office/drawing/2014/main" id="{32C6BD75-0569-4316-98D2-4EB985013752}"/>
              </a:ext>
            </a:extLst>
          </p:cNvPr>
          <p:cNvSpPr>
            <a:spLocks xmlns:a="http://schemas.openxmlformats.org/drawingml/2006/main" noGrp="1"/>
          </p:cNvSpPr>
          <p:nvPr/>
        </p:nvSpPr>
        <p:spPr>
          <a:xfrm xmlns:a="http://schemas.openxmlformats.org/drawingml/2006/main">
            <a:off x="647700" y="495300"/>
            <a:ext cx="108775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C49"/>
                </a:solidFill>
                <a:latin typeface="Arial"/>
                <a:ea typeface="Arial"/>
                <a:cs typeface="Arial"/>
              </a:defRPr>
            </a:pPr>
            <a:r>
              <a:rPr sz="3300" b="1">
                <a:solidFill>
                  <a:srgbClr val="183C49"/>
                </a:solidFill>
                <a:latin typeface="Arial"/>
                <a:ea typeface="Arial"/>
                <a:cs typeface="Arial"/>
              </a:rPr>
              <a:t>Independent review changed the result</a:t>
            </a:r>
          </a:p>
        </p:txBody>
      </p:sp>
      <p:sp>
        <p:nvSpPr>
          <p:cNvPr id="2" name="04">
            <a:extLst xmlns:a="http://schemas.openxmlformats.org/drawingml/2006/main">
              <a:ext uri="{FF2B5EF4-FFF2-40B4-BE49-F238E27FC236}">
                <a16:creationId xmlns:a16="http://schemas.microsoft.com/office/drawing/2014/main" id="{AFF6FAB3-7939-4CE5-8DE8-08B788748AD1}"/>
              </a:ext>
            </a:extLst>
          </p:cNvPr>
          <p:cNvSpPr>
            <a:spLocks xmlns:a="http://schemas.openxmlformats.org/drawingml/2006/main" noGrp="1"/>
          </p:cNvSpPr>
          <p:nvPr/>
        </p:nvSpPr>
        <p:spPr>
          <a:xfrm xmlns:a="http://schemas.openxmlformats.org/drawingml/2006/main">
            <a:off x="11049000" y="62960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871"/>
                </a:solidFill>
                <a:latin typeface="Arial"/>
                <a:ea typeface="Arial"/>
                <a:cs typeface="Arial"/>
              </a:defRPr>
            </a:pPr>
            <a:r>
              <a:rPr sz="1350" b="0">
                <a:solidFill>
                  <a:srgbClr val="526871"/>
                </a:solidFill>
                <a:latin typeface="Arial"/>
                <a:ea typeface="Arial"/>
                <a:cs typeface="Arial"/>
              </a:rPr>
              <a:t>04</a:t>
            </a:r>
          </a:p>
        </p:txBody>
      </p:sp>
      <p:sp>
        <p:nvSpPr>
          <p:cNvPr id="3" name="F1: imported credential fields accepted the wrong JS">
            <a:extLst xmlns:a="http://schemas.openxmlformats.org/drawingml/2006/main">
              <a:ext uri="{FF2B5EF4-FFF2-40B4-BE49-F238E27FC236}">
                <a16:creationId xmlns:a16="http://schemas.microsoft.com/office/drawing/2014/main" id="{B65EC9D2-6914-41C0-8EF0-16913C9BF09A}"/>
              </a:ext>
            </a:extLst>
          </p:cNvPr>
          <p:cNvSpPr>
            <a:spLocks xmlns:a="http://schemas.openxmlformats.org/drawingml/2006/main" noGrp="1"/>
          </p:cNvSpPr>
          <p:nvPr/>
        </p:nvSpPr>
        <p:spPr>
          <a:xfrm xmlns:a="http://schemas.openxmlformats.org/drawingml/2006/main">
            <a:off x="647700" y="16573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83C49"/>
                </a:solidFill>
                <a:latin typeface="Arial"/>
                <a:ea typeface="Arial"/>
                <a:cs typeface="Arial"/>
              </a:defRPr>
            </a:pPr>
            <a:r>
              <a:rPr sz="2100" b="1">
                <a:solidFill>
                  <a:srgbClr val="183C49"/>
                </a:solidFill>
                <a:latin typeface="Arial"/>
                <a:ea typeface="Arial"/>
                <a:cs typeface="Arial"/>
              </a:rPr>
              <a:t>F1: imported credential fields accepted the wrong JSON type</a:t>
            </a:r>
          </a:p>
        </p:txBody>
      </p:sp>
      <p:sp>
        <p:nvSpPr>
          <p:cNvPr id="4" name="739b1bf">
            <a:extLst xmlns:a="http://schemas.openxmlformats.org/drawingml/2006/main">
              <a:ext uri="{FF2B5EF4-FFF2-40B4-BE49-F238E27FC236}">
                <a16:creationId xmlns:a16="http://schemas.microsoft.com/office/drawing/2014/main" id="{E8AAF54D-3300-4AC4-88BE-906E2A6C286E}"/>
              </a:ext>
            </a:extLst>
          </p:cNvPr>
          <p:cNvSpPr>
            <a:spLocks xmlns:a="http://schemas.openxmlformats.org/drawingml/2006/main" noGrp="1"/>
          </p:cNvSpPr>
          <p:nvPr/>
        </p:nvSpPr>
        <p:spPr>
          <a:xfrm xmlns:a="http://schemas.openxmlformats.org/drawingml/2006/main">
            <a:off x="647700" y="2514600"/>
            <a:ext cx="3095625" cy="914400"/>
          </a:xfrm>
          <a:prstGeom xmlns:a="http://schemas.openxmlformats.org/drawingml/2006/main" prst="rect">
            <a:avLst/>
          </a:prstGeom>
          <a:solidFill xmlns:a="http://schemas.openxmlformats.org/drawingml/2006/main">
            <a:srgbClr val="FFFFFF"/>
          </a:solidFill>
          <a:ln xmlns:a="http://schemas.openxmlformats.org/drawingml/2006/main" w="13335">
            <a:solidFill>
              <a:srgbClr val="CFD9D8"/>
            </a:solidFill>
          </a:ln>
        </p:spPr>
        <p:txBody>
          <a:bodyPr xmlns:a="http://schemas.openxmlformats.org/drawingml/2006/main" lIns="95250" tIns="114300" rIns="95250" bIns="114300" anchor="ctr">
            <a:noAutofit/>
          </a:bodyPr>
          <a:lstStyle xmlns:a="http://schemas.openxmlformats.org/drawingml/2006/main"/>
          <a:p xmlns:a="http://schemas.openxmlformats.org/drawingml/2006/main">
            <a:pPr algn="ctr">
              <a:defRPr sz="1800">
                <a:solidFill>
                  <a:srgbClr val="183C49"/>
                </a:solidFill>
                <a:latin typeface="Arial"/>
                <a:ea typeface="Arial"/>
                <a:cs typeface="Arial"/>
              </a:defRPr>
            </a:pPr>
            <a:r>
              <a:rPr sz="1800">
                <a:solidFill>
                  <a:srgbClr val="183C49"/>
                </a:solidFill>
                <a:latin typeface="Arial"/>
                <a:ea typeface="Arial"/>
                <a:cs typeface="Arial"/>
              </a:rPr>
              <a:t>739b1bf</a:t>
            </a:r>
          </a:p>
          <a:p xmlns:a="http://schemas.openxmlformats.org/drawingml/2006/main">
            <a:pPr algn="ctr">
              <a:defRPr sz="1800">
                <a:solidFill>
                  <a:srgbClr val="183C49"/>
                </a:solidFill>
                <a:latin typeface="Arial"/>
                <a:ea typeface="Arial"/>
                <a:cs typeface="Arial"/>
              </a:defRPr>
            </a:pPr>
            <a:r>
              <a:rPr sz="1800">
                <a:solidFill>
                  <a:srgbClr val="183C49"/>
                </a:solidFill>
                <a:latin typeface="Arial"/>
                <a:ea typeface="Arial"/>
                <a:cs typeface="Arial"/>
              </a:rPr>
              <a:t>Reviewer rejected</a:t>
            </a:r>
          </a:p>
        </p:txBody>
      </p:sp>
      <p:sp>
        <p:nvSpPr>
          <p:cNvPr id="5" name="52a179d">
            <a:extLst xmlns:a="http://schemas.openxmlformats.org/drawingml/2006/main">
              <a:ext uri="{FF2B5EF4-FFF2-40B4-BE49-F238E27FC236}">
                <a16:creationId xmlns:a16="http://schemas.microsoft.com/office/drawing/2014/main" id="{8BF0FEF1-44DD-4C4C-993B-D09AE300798B}"/>
              </a:ext>
            </a:extLst>
          </p:cNvPr>
          <p:cNvSpPr>
            <a:spLocks xmlns:a="http://schemas.openxmlformats.org/drawingml/2006/main" noGrp="1"/>
          </p:cNvSpPr>
          <p:nvPr/>
        </p:nvSpPr>
        <p:spPr>
          <a:xfrm xmlns:a="http://schemas.openxmlformats.org/drawingml/2006/main">
            <a:off x="4562475" y="2514600"/>
            <a:ext cx="3095625" cy="914400"/>
          </a:xfrm>
          <a:prstGeom xmlns:a="http://schemas.openxmlformats.org/drawingml/2006/main" prst="rect">
            <a:avLst/>
          </a:prstGeom>
          <a:solidFill xmlns:a="http://schemas.openxmlformats.org/drawingml/2006/main">
            <a:srgbClr val="FFFFFF"/>
          </a:solidFill>
          <a:ln xmlns:a="http://schemas.openxmlformats.org/drawingml/2006/main" w="13335">
            <a:solidFill>
              <a:srgbClr val="CFD9D8"/>
            </a:solidFill>
          </a:ln>
        </p:spPr>
        <p:txBody>
          <a:bodyPr xmlns:a="http://schemas.openxmlformats.org/drawingml/2006/main" lIns="95250" tIns="114300" rIns="95250" bIns="114300" anchor="ctr">
            <a:noAutofit/>
          </a:bodyPr>
          <a:lstStyle xmlns:a="http://schemas.openxmlformats.org/drawingml/2006/main"/>
          <a:p xmlns:a="http://schemas.openxmlformats.org/drawingml/2006/main">
            <a:pPr algn="ctr">
              <a:defRPr sz="1800">
                <a:solidFill>
                  <a:srgbClr val="183C49"/>
                </a:solidFill>
                <a:latin typeface="Arial"/>
                <a:ea typeface="Arial"/>
                <a:cs typeface="Arial"/>
              </a:defRPr>
            </a:pPr>
            <a:r>
              <a:rPr sz="1800">
                <a:solidFill>
                  <a:srgbClr val="183C49"/>
                </a:solidFill>
                <a:latin typeface="Arial"/>
                <a:ea typeface="Arial"/>
                <a:cs typeface="Arial"/>
              </a:rPr>
              <a:t>52a179d</a:t>
            </a:r>
          </a:p>
          <a:p xmlns:a="http://schemas.openxmlformats.org/drawingml/2006/main">
            <a:pPr algn="ctr">
              <a:defRPr sz="1800">
                <a:solidFill>
                  <a:srgbClr val="183C49"/>
                </a:solidFill>
                <a:latin typeface="Arial"/>
                <a:ea typeface="Arial"/>
                <a:cs typeface="Arial"/>
              </a:defRPr>
            </a:pPr>
            <a:r>
              <a:rPr sz="1800">
                <a:solidFill>
                  <a:srgbClr val="183C49"/>
                </a:solidFill>
                <a:latin typeface="Arial"/>
                <a:ea typeface="Arial"/>
                <a:cs typeface="Arial"/>
              </a:rPr>
              <a:t>Backend repaired</a:t>
            </a:r>
          </a:p>
        </p:txBody>
      </p:sp>
      <p:sp>
        <p:nvSpPr>
          <p:cNvPr id="6" name="52a179d">
            <a:extLst xmlns:a="http://schemas.openxmlformats.org/drawingml/2006/main">
              <a:ext uri="{FF2B5EF4-FFF2-40B4-BE49-F238E27FC236}">
                <a16:creationId xmlns:a16="http://schemas.microsoft.com/office/drawing/2014/main" id="{7D6DCB89-09E1-41FF-A6B6-780FF7DD433A}"/>
              </a:ext>
            </a:extLst>
          </p:cNvPr>
          <p:cNvSpPr>
            <a:spLocks xmlns:a="http://schemas.openxmlformats.org/drawingml/2006/main" noGrp="1"/>
          </p:cNvSpPr>
          <p:nvPr/>
        </p:nvSpPr>
        <p:spPr>
          <a:xfrm xmlns:a="http://schemas.openxmlformats.org/drawingml/2006/main">
            <a:off x="8477250" y="2514600"/>
            <a:ext cx="3095625" cy="914400"/>
          </a:xfrm>
          <a:prstGeom xmlns:a="http://schemas.openxmlformats.org/drawingml/2006/main" prst="rect">
            <a:avLst/>
          </a:prstGeom>
          <a:solidFill xmlns:a="http://schemas.openxmlformats.org/drawingml/2006/main">
            <a:srgbClr val="FFFFFF"/>
          </a:solidFill>
          <a:ln xmlns:a="http://schemas.openxmlformats.org/drawingml/2006/main" w="13335">
            <a:solidFill>
              <a:srgbClr val="CFD9D8"/>
            </a:solidFill>
          </a:ln>
        </p:spPr>
        <p:txBody>
          <a:bodyPr xmlns:a="http://schemas.openxmlformats.org/drawingml/2006/main" lIns="95250" tIns="114300" rIns="95250" bIns="114300" anchor="ctr">
            <a:noAutofit/>
          </a:bodyPr>
          <a:lstStyle xmlns:a="http://schemas.openxmlformats.org/drawingml/2006/main"/>
          <a:p xmlns:a="http://schemas.openxmlformats.org/drawingml/2006/main">
            <a:pPr algn="ctr">
              <a:defRPr sz="1800">
                <a:solidFill>
                  <a:srgbClr val="183C49"/>
                </a:solidFill>
                <a:latin typeface="Arial"/>
                <a:ea typeface="Arial"/>
                <a:cs typeface="Arial"/>
              </a:defRPr>
            </a:pPr>
            <a:r>
              <a:rPr sz="1800">
                <a:solidFill>
                  <a:srgbClr val="183C49"/>
                </a:solidFill>
                <a:latin typeface="Arial"/>
                <a:ea typeface="Arial"/>
                <a:cs typeface="Arial"/>
              </a:rPr>
              <a:t>52a179d</a:t>
            </a:r>
          </a:p>
          <a:p xmlns:a="http://schemas.openxmlformats.org/drawingml/2006/main">
            <a:pPr algn="ctr">
              <a:defRPr sz="1800">
                <a:solidFill>
                  <a:srgbClr val="183C49"/>
                </a:solidFill>
                <a:latin typeface="Arial"/>
                <a:ea typeface="Arial"/>
                <a:cs typeface="Arial"/>
              </a:defRPr>
            </a:pPr>
            <a:r>
              <a:rPr sz="1800">
                <a:solidFill>
                  <a:srgbClr val="183C49"/>
                </a:solidFill>
                <a:latin typeface="Arial"/>
                <a:ea typeface="Arial"/>
                <a:cs typeface="Arial"/>
              </a:rPr>
              <a:t>Reviewer accepted</a:t>
            </a:r>
          </a:p>
        </p:txBody>
      </p:sp>
      <p:cxnSp>
        <p:nvCxnSpPr>
          <p:cNvPr id="19" name=""/>
          <p:cNvCxnSpPr>
            <a:stCxn xmlns:a="http://schemas.openxmlformats.org/drawingml/2006/main" id="4" idx="3"/>
            <a:endCxn xmlns:a="http://schemas.openxmlformats.org/drawingml/2006/main" id="5" idx="1"/>
          </p:cNvCxnSpPr>
          <p:nvPr/>
        </p:nvCxnSpPr>
        <p:spPr>
          <a:xfrm xmlns:a="http://schemas.openxmlformats.org/drawingml/2006/main">
            <a:off x="3743325" y="2971800"/>
            <a:ext cx="819150" cy="0"/>
          </a:xfrm>
          <a:prstGeom xmlns:a="http://schemas.openxmlformats.org/drawingml/2006/main" prst="straightConnector1">
            <a:avLst/>
          </a:prstGeom>
          <a:ln xmlns:a="http://schemas.openxmlformats.org/drawingml/2006/main" w="23813">
            <a:solidFill>
              <a:srgbClr val="007D7D"/>
            </a:solidFill>
            <a:tailEnd type="triangle" w="sm" len="sm"/>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71800"/>
            <a:ext cx="819150" cy="0"/>
          </a:xfrm>
          <a:prstGeom xmlns:a="http://schemas.openxmlformats.org/drawingml/2006/main" prst="straightConnector1">
            <a:avLst/>
          </a:prstGeom>
          <a:ln xmlns:a="http://schemas.openxmlformats.org/drawingml/2006/main" w="23813">
            <a:solidFill>
              <a:srgbClr val="007D7D"/>
            </a:solidFill>
            <a:tailEnd type="triangle" w="sm" len="sm"/>
          </a:ln>
        </p:spPr>
      </p:cxnSp>
      <p:sp>
        <p:nvSpPr>
          <p:cNvPr id="9" name="Invalid salt/hash arrays&#10;changed state (204).&#10;Next l">
            <a:extLst xmlns:a="http://schemas.openxmlformats.org/drawingml/2006/main">
              <a:ext uri="{FF2B5EF4-FFF2-40B4-BE49-F238E27FC236}">
                <a16:creationId xmlns:a16="http://schemas.microsoft.com/office/drawing/2014/main" id="{16501D1A-2D64-4116-AF71-A39FC27B8248}"/>
              </a:ext>
            </a:extLst>
          </p:cNvPr>
          <p:cNvSpPr>
            <a:spLocks xmlns:a="http://schemas.openxmlformats.org/drawingml/2006/main" noGrp="1"/>
          </p:cNvSpPr>
          <p:nvPr/>
        </p:nvSpPr>
        <p:spPr>
          <a:xfrm xmlns:a="http://schemas.openxmlformats.org/drawingml/2006/main">
            <a:off x="647700" y="3743325"/>
            <a:ext cx="3143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9B413D"/>
                </a:solidFill>
                <a:latin typeface="Arial"/>
                <a:ea typeface="Arial"/>
                <a:cs typeface="Arial"/>
              </a:defRPr>
            </a:pPr>
            <a:r>
              <a:rPr sz="1950" b="0">
                <a:solidFill>
                  <a:srgbClr val="9B413D"/>
                </a:solidFill>
                <a:latin typeface="Arial"/>
                <a:ea typeface="Arial"/>
                <a:cs typeface="Arial"/>
              </a:rPr>
              <a:t>Invalid salt/hash arrays</a:t>
            </a:r>
          </a:p>
          <a:p xmlns:a="http://schemas.openxmlformats.org/drawingml/2006/main">
            <a:pPr algn="l">
              <a:defRPr sz="1950" b="0">
                <a:solidFill>
                  <a:srgbClr val="9B413D"/>
                </a:solidFill>
                <a:latin typeface="Arial"/>
                <a:ea typeface="Arial"/>
                <a:cs typeface="Arial"/>
              </a:defRPr>
            </a:pPr>
            <a:r>
              <a:rPr sz="1950" b="0">
                <a:solidFill>
                  <a:srgbClr val="9B413D"/>
                </a:solidFill>
                <a:latin typeface="Arial"/>
                <a:ea typeface="Arial"/>
                <a:cs typeface="Arial"/>
              </a:rPr>
              <a:t>changed state (204).</a:t>
            </a:r>
          </a:p>
          <a:p xmlns:a="http://schemas.openxmlformats.org/drawingml/2006/main">
            <a:pPr algn="l">
              <a:defRPr sz="1950" b="0">
                <a:solidFill>
                  <a:srgbClr val="9B413D"/>
                </a:solidFill>
                <a:latin typeface="Arial"/>
                <a:ea typeface="Arial"/>
                <a:cs typeface="Arial"/>
              </a:defRPr>
            </a:pPr>
            <a:r>
              <a:rPr sz="1950" b="0">
                <a:solidFill>
                  <a:srgbClr val="9B413D"/>
                </a:solidFill>
                <a:latin typeface="Arial"/>
                <a:ea typeface="Arial"/>
                <a:cs typeface="Arial"/>
              </a:rPr>
              <a:t>Next login returned 500.</a:t>
            </a:r>
          </a:p>
        </p:txBody>
      </p:sp>
      <p:sp>
        <p:nvSpPr>
          <p:cNvPr id="10" name="Explicit type guards reject&#10;malformed credential fie">
            <a:extLst xmlns:a="http://schemas.openxmlformats.org/drawingml/2006/main">
              <a:ext uri="{FF2B5EF4-FFF2-40B4-BE49-F238E27FC236}">
                <a16:creationId xmlns:a16="http://schemas.microsoft.com/office/drawing/2014/main" id="{6B0E3FEB-52FA-4F9E-9223-746CD9CE6529}"/>
              </a:ext>
            </a:extLst>
          </p:cNvPr>
          <p:cNvSpPr>
            <a:spLocks xmlns:a="http://schemas.openxmlformats.org/drawingml/2006/main" noGrp="1"/>
          </p:cNvSpPr>
          <p:nvPr/>
        </p:nvSpPr>
        <p:spPr>
          <a:xfrm xmlns:a="http://schemas.openxmlformats.org/drawingml/2006/main">
            <a:off x="4562475" y="3743325"/>
            <a:ext cx="3143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3C49"/>
                </a:solidFill>
                <a:latin typeface="Arial"/>
                <a:ea typeface="Arial"/>
                <a:cs typeface="Arial"/>
              </a:defRPr>
            </a:pPr>
            <a:r>
              <a:rPr sz="1950" b="0">
                <a:solidFill>
                  <a:srgbClr val="183C49"/>
                </a:solidFill>
                <a:latin typeface="Arial"/>
                <a:ea typeface="Arial"/>
                <a:cs typeface="Arial"/>
              </a:rPr>
              <a:t>Explicit type guards reject</a:t>
            </a:r>
          </a:p>
          <a:p xmlns:a="http://schemas.openxmlformats.org/drawingml/2006/main">
            <a:pPr algn="l">
              <a:defRPr sz="1950" b="0">
                <a:solidFill>
                  <a:srgbClr val="183C49"/>
                </a:solidFill>
                <a:latin typeface="Arial"/>
                <a:ea typeface="Arial"/>
                <a:cs typeface="Arial"/>
              </a:defRPr>
            </a:pPr>
            <a:r>
              <a:rPr sz="1950" b="0">
                <a:solidFill>
                  <a:srgbClr val="183C49"/>
                </a:solidFill>
                <a:latin typeface="Arial"/>
                <a:ea typeface="Arial"/>
                <a:cs typeface="Arial"/>
              </a:rPr>
              <a:t>malformed credential fields</a:t>
            </a:r>
          </a:p>
          <a:p xmlns:a="http://schemas.openxmlformats.org/drawingml/2006/main">
            <a:pPr algn="l">
              <a:defRPr sz="1950" b="0">
                <a:solidFill>
                  <a:srgbClr val="183C49"/>
                </a:solidFill>
                <a:latin typeface="Arial"/>
                <a:ea typeface="Arial"/>
                <a:cs typeface="Arial"/>
              </a:defRPr>
            </a:pPr>
            <a:r>
              <a:rPr sz="1950" b="0">
                <a:solidFill>
                  <a:srgbClr val="183C49"/>
                </a:solidFill>
                <a:latin typeface="Arial"/>
                <a:ea typeface="Arial"/>
                <a:cs typeface="Arial"/>
              </a:rPr>
              <a:t>before replacing state.</a:t>
            </a:r>
          </a:p>
        </p:txBody>
      </p:sp>
      <p:sp>
        <p:nvSpPr>
          <p:cNvPr id="11" name="HTTP 422 on invalid import.&#10;Destination unchanged.&#10;E">
            <a:extLst xmlns:a="http://schemas.openxmlformats.org/drawingml/2006/main">
              <a:ext uri="{FF2B5EF4-FFF2-40B4-BE49-F238E27FC236}">
                <a16:creationId xmlns:a16="http://schemas.microsoft.com/office/drawing/2014/main" id="{405E4849-EAB2-4210-A0AE-53EDD94A3C52}"/>
              </a:ext>
            </a:extLst>
          </p:cNvPr>
          <p:cNvSpPr>
            <a:spLocks xmlns:a="http://schemas.openxmlformats.org/drawingml/2006/main" noGrp="1"/>
          </p:cNvSpPr>
          <p:nvPr/>
        </p:nvSpPr>
        <p:spPr>
          <a:xfrm xmlns:a="http://schemas.openxmlformats.org/drawingml/2006/main">
            <a:off x="8477250" y="3743325"/>
            <a:ext cx="3095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007D7D"/>
                </a:solidFill>
                <a:latin typeface="Arial"/>
                <a:ea typeface="Arial"/>
                <a:cs typeface="Arial"/>
              </a:defRPr>
            </a:pPr>
            <a:r>
              <a:rPr sz="1950" b="0">
                <a:solidFill>
                  <a:srgbClr val="007D7D"/>
                </a:solidFill>
                <a:latin typeface="Arial"/>
                <a:ea typeface="Arial"/>
                <a:cs typeface="Arial"/>
              </a:rPr>
              <a:t>HTTP 422 on invalid import.</a:t>
            </a:r>
          </a:p>
          <a:p xmlns:a="http://schemas.openxmlformats.org/drawingml/2006/main">
            <a:pPr algn="l">
              <a:defRPr sz="1950" b="0">
                <a:solidFill>
                  <a:srgbClr val="007D7D"/>
                </a:solidFill>
                <a:latin typeface="Arial"/>
                <a:ea typeface="Arial"/>
                <a:cs typeface="Arial"/>
              </a:defRPr>
            </a:pPr>
            <a:r>
              <a:rPr sz="1950" b="0">
                <a:solidFill>
                  <a:srgbClr val="007D7D"/>
                </a:solidFill>
                <a:latin typeface="Arial"/>
                <a:ea typeface="Arial"/>
                <a:cs typeface="Arial"/>
              </a:rPr>
              <a:t>Destination unchanged.</a:t>
            </a:r>
          </a:p>
          <a:p xmlns:a="http://schemas.openxmlformats.org/drawingml/2006/main">
            <a:pPr algn="l">
              <a:defRPr sz="1950" b="0">
                <a:solidFill>
                  <a:srgbClr val="007D7D"/>
                </a:solidFill>
                <a:latin typeface="Arial"/>
                <a:ea typeface="Arial"/>
                <a:cs typeface="Arial"/>
              </a:defRPr>
            </a:pPr>
            <a:r>
              <a:rPr sz="1950" b="0">
                <a:solidFill>
                  <a:srgbClr val="007D7D"/>
                </a:solidFill>
                <a:latin typeface="Arial"/>
                <a:ea typeface="Arial"/>
                <a:cs typeface="Arial"/>
              </a:rPr>
              <a:t>Existing login still works.</a:t>
            </a:r>
          </a:p>
        </p:txBody>
      </p:sp>
      <p:sp>
        <p:nvSpPr>
          <p:cNvPr id="12" name="The prior rejection and repair commit remain in the ">
            <a:extLst xmlns:a="http://schemas.openxmlformats.org/drawingml/2006/main">
              <a:ext uri="{FF2B5EF4-FFF2-40B4-BE49-F238E27FC236}">
                <a16:creationId xmlns:a16="http://schemas.microsoft.com/office/drawing/2014/main" id="{64B95957-A547-4C40-BCB7-86C17237930C}"/>
              </a:ext>
            </a:extLst>
          </p:cNvPr>
          <p:cNvSpPr>
            <a:spLocks xmlns:a="http://schemas.openxmlformats.org/drawingml/2006/main" noGrp="1"/>
          </p:cNvSpPr>
          <p:nvPr/>
        </p:nvSpPr>
        <p:spPr>
          <a:xfrm xmlns:a="http://schemas.openxmlformats.org/drawingml/2006/main">
            <a:off x="647700" y="55149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871"/>
                </a:solidFill>
                <a:latin typeface="Arial"/>
                <a:ea typeface="Arial"/>
                <a:cs typeface="Arial"/>
              </a:defRPr>
            </a:pPr>
            <a:r>
              <a:rPr sz="1875" b="0">
                <a:solidFill>
                  <a:srgbClr val="526871"/>
                </a:solidFill>
                <a:latin typeface="Arial"/>
                <a:ea typeface="Arial"/>
                <a:cs typeface="Arial"/>
              </a:rPr>
              <a:t>The prior rejection and repair commit remain in the evidence and Git history.</a:t>
            </a:r>
          </a:p>
        </p:txBody>
      </p:sp>
    </p:spTree>
    <p:extLst>
      <p:ext uri="{BB962C8B-B14F-4D97-AF65-F5344CB8AC3E}">
        <p14:creationId xmlns:p14="http://schemas.microsoft.com/office/powerpoint/2010/main" val="1096590355"/>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120 official checks passed on the accepted commit">
            <a:extLst xmlns:a="http://schemas.openxmlformats.org/drawingml/2006/main">
              <a:ext uri="{FF2B5EF4-FFF2-40B4-BE49-F238E27FC236}">
                <a16:creationId xmlns:a16="http://schemas.microsoft.com/office/drawing/2014/main" id="{A341761E-B8FC-49BE-AFF7-D7931C47DAB2}"/>
              </a:ext>
            </a:extLst>
          </p:cNvPr>
          <p:cNvSpPr>
            <a:spLocks xmlns:a="http://schemas.openxmlformats.org/drawingml/2006/main" noGrp="1"/>
          </p:cNvSpPr>
          <p:nvPr/>
        </p:nvSpPr>
        <p:spPr>
          <a:xfrm xmlns:a="http://schemas.openxmlformats.org/drawingml/2006/main">
            <a:off x="647700" y="495300"/>
            <a:ext cx="108775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C49"/>
                </a:solidFill>
                <a:latin typeface="Arial"/>
                <a:ea typeface="Arial"/>
                <a:cs typeface="Arial"/>
              </a:defRPr>
            </a:pPr>
            <a:r>
              <a:rPr sz="3300" b="1">
                <a:solidFill>
                  <a:srgbClr val="183C49"/>
                </a:solidFill>
                <a:latin typeface="Arial"/>
                <a:ea typeface="Arial"/>
                <a:cs typeface="Arial"/>
              </a:rPr>
              <a:t>120 official checks passed on the accepted commit</a:t>
            </a:r>
          </a:p>
        </p:txBody>
      </p:sp>
      <p:sp>
        <p:nvSpPr>
          <p:cNvPr id="2" name="05">
            <a:extLst xmlns:a="http://schemas.openxmlformats.org/drawingml/2006/main">
              <a:ext uri="{FF2B5EF4-FFF2-40B4-BE49-F238E27FC236}">
                <a16:creationId xmlns:a16="http://schemas.microsoft.com/office/drawing/2014/main" id="{8BDB4A8E-EF8A-4868-ADAC-A1625C3111CD}"/>
              </a:ext>
            </a:extLst>
          </p:cNvPr>
          <p:cNvSpPr>
            <a:spLocks xmlns:a="http://schemas.openxmlformats.org/drawingml/2006/main" noGrp="1"/>
          </p:cNvSpPr>
          <p:nvPr/>
        </p:nvSpPr>
        <p:spPr>
          <a:xfrm xmlns:a="http://schemas.openxmlformats.org/drawingml/2006/main">
            <a:off x="11049000" y="62960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871"/>
                </a:solidFill>
                <a:latin typeface="Arial"/>
                <a:ea typeface="Arial"/>
                <a:cs typeface="Arial"/>
              </a:defRPr>
            </a:pPr>
            <a:r>
              <a:rPr sz="1350" b="0">
                <a:solidFill>
                  <a:srgbClr val="526871"/>
                </a:solidFill>
                <a:latin typeface="Arial"/>
                <a:ea typeface="Arial"/>
                <a:cs typeface="Arial"/>
              </a:rPr>
              <a:t>05</a:t>
            </a:r>
          </a:p>
        </p:txBody>
      </p:sp>
      <p:graphicFrame>
        <p:nvGraphicFramePr>
          <p:cNvPr id="10" name="Chart"/>
          <p:cNvGraphicFramePr/>
          <p:nvPr/>
        </p:nvGraphicFramePr>
        <p:xfrm>
          <a:off xmlns:a="http://schemas.openxmlformats.org/drawingml/2006/main" x="476250" y="1819275"/>
          <a:ext xmlns:a="http://schemas.openxmlformats.org/drawingml/2006/main" cx="7743825" cy="3829050"/>
        </p:xfrm>
        <a:graphic xmlns:a="http://schemas.openxmlformats.org/drawingml/2006/main">
          <a:graphicData uri="http://schemas.openxmlformats.org/drawingml/2006/chart">
            <c:chart xmlns:r="http://schemas.openxmlformats.org/officeDocument/2006/relationships" xmlns:c="http://schemas.openxmlformats.org/drawingml/2006/chart" r:id="R8a417b65207b49f6"/>
          </a:graphicData>
        </a:graphic>
      </p:graphicFrame>
      <p:sp>
        <p:nvSpPr>
          <p:cNvPr id="4" name="120 / 120">
            <a:extLst xmlns:a="http://schemas.openxmlformats.org/drawingml/2006/main">
              <a:ext uri="{FF2B5EF4-FFF2-40B4-BE49-F238E27FC236}">
                <a16:creationId xmlns:a16="http://schemas.microsoft.com/office/drawing/2014/main" id="{BBD096F8-8822-4873-9D1B-DFE3934E1EA5}"/>
              </a:ext>
            </a:extLst>
          </p:cNvPr>
          <p:cNvSpPr>
            <a:spLocks xmlns:a="http://schemas.openxmlformats.org/drawingml/2006/main" noGrp="1"/>
          </p:cNvSpPr>
          <p:nvPr/>
        </p:nvSpPr>
        <p:spPr>
          <a:xfrm xmlns:a="http://schemas.openxmlformats.org/drawingml/2006/main">
            <a:off x="8620125" y="2143125"/>
            <a:ext cx="2809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007D7D"/>
                </a:solidFill>
                <a:latin typeface="Arial"/>
                <a:ea typeface="Arial"/>
                <a:cs typeface="Arial"/>
              </a:defRPr>
            </a:pPr>
            <a:r>
              <a:rPr sz="3825" b="1">
                <a:solidFill>
                  <a:srgbClr val="007D7D"/>
                </a:solidFill>
                <a:latin typeface="Arial"/>
                <a:ea typeface="Arial"/>
                <a:cs typeface="Arial"/>
              </a:rPr>
              <a:t>120 / 120</a:t>
            </a:r>
          </a:p>
        </p:txBody>
      </p:sp>
      <p:sp>
        <p:nvSpPr>
          <p:cNvPr id="5" name="0 failed&#10;0 skipped&#10;Isolated Docker">
            <a:extLst xmlns:a="http://schemas.openxmlformats.org/drawingml/2006/main">
              <a:ext uri="{FF2B5EF4-FFF2-40B4-BE49-F238E27FC236}">
                <a16:creationId xmlns:a16="http://schemas.microsoft.com/office/drawing/2014/main" id="{6B9D30C4-8AFD-4EA2-9370-5DE3B075D374}"/>
              </a:ext>
            </a:extLst>
          </p:cNvPr>
          <p:cNvSpPr>
            <a:spLocks xmlns:a="http://schemas.openxmlformats.org/drawingml/2006/main" noGrp="1"/>
          </p:cNvSpPr>
          <p:nvPr/>
        </p:nvSpPr>
        <p:spPr>
          <a:xfrm xmlns:a="http://schemas.openxmlformats.org/drawingml/2006/main">
            <a:off x="8629650" y="3238500"/>
            <a:ext cx="2667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3C49"/>
                </a:solidFill>
                <a:latin typeface="Arial"/>
                <a:ea typeface="Arial"/>
                <a:cs typeface="Arial"/>
              </a:defRPr>
            </a:pPr>
            <a:r>
              <a:rPr sz="2100" b="0">
                <a:solidFill>
                  <a:srgbClr val="183C49"/>
                </a:solidFill>
                <a:latin typeface="Arial"/>
                <a:ea typeface="Arial"/>
                <a:cs typeface="Arial"/>
              </a:rPr>
              <a:t>0 failed</a:t>
            </a:r>
          </a:p>
          <a:p xmlns:a="http://schemas.openxmlformats.org/drawingml/2006/main">
            <a:pPr algn="l">
              <a:defRPr sz="2100" b="0">
                <a:solidFill>
                  <a:srgbClr val="183C49"/>
                </a:solidFill>
                <a:latin typeface="Arial"/>
                <a:ea typeface="Arial"/>
                <a:cs typeface="Arial"/>
              </a:defRPr>
            </a:pPr>
            <a:r>
              <a:rPr sz="2100" b="0">
                <a:solidFill>
                  <a:srgbClr val="183C49"/>
                </a:solidFill>
                <a:latin typeface="Arial"/>
                <a:ea typeface="Arial"/>
                <a:cs typeface="Arial"/>
              </a:rPr>
              <a:t>0 skipped</a:t>
            </a:r>
          </a:p>
          <a:p xmlns:a="http://schemas.openxmlformats.org/drawingml/2006/main">
            <a:pPr algn="l">
              <a:defRPr sz="2100" b="0">
                <a:solidFill>
                  <a:srgbClr val="183C49"/>
                </a:solidFill>
                <a:latin typeface="Arial"/>
                <a:ea typeface="Arial"/>
                <a:cs typeface="Arial"/>
              </a:defRPr>
            </a:pPr>
            <a:r>
              <a:rPr sz="2100" b="0">
                <a:solidFill>
                  <a:srgbClr val="183C49"/>
                </a:solidFill>
                <a:latin typeface="Arial"/>
                <a:ea typeface="Arial"/>
                <a:cs typeface="Arial"/>
              </a:rPr>
              <a:t>Isolated Docker</a:t>
            </a:r>
          </a:p>
        </p:txBody>
      </p:sp>
      <p:sp>
        <p:nvSpPr>
          <p:cNvPr id="6" name="52a179d&#10;Exact accepted candidate">
            <a:extLst xmlns:a="http://schemas.openxmlformats.org/drawingml/2006/main">
              <a:ext uri="{FF2B5EF4-FFF2-40B4-BE49-F238E27FC236}">
                <a16:creationId xmlns:a16="http://schemas.microsoft.com/office/drawing/2014/main" id="{A1250883-C49B-4654-8FA1-B881B0580EF7}"/>
              </a:ext>
            </a:extLst>
          </p:cNvPr>
          <p:cNvSpPr>
            <a:spLocks xmlns:a="http://schemas.openxmlformats.org/drawingml/2006/main" noGrp="1"/>
          </p:cNvSpPr>
          <p:nvPr/>
        </p:nvSpPr>
        <p:spPr>
          <a:xfrm xmlns:a="http://schemas.openxmlformats.org/drawingml/2006/main">
            <a:off x="8629650" y="4886325"/>
            <a:ext cx="27432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871"/>
                </a:solidFill>
                <a:latin typeface="Arial"/>
                <a:ea typeface="Arial"/>
                <a:cs typeface="Arial"/>
              </a:defRPr>
            </a:pPr>
            <a:r>
              <a:rPr sz="1800" b="0">
                <a:solidFill>
                  <a:srgbClr val="526871"/>
                </a:solidFill>
                <a:latin typeface="Arial"/>
                <a:ea typeface="Arial"/>
                <a:cs typeface="Arial"/>
              </a:rPr>
              <a:t>52a179d</a:t>
            </a:r>
          </a:p>
          <a:p xmlns:a="http://schemas.openxmlformats.org/drawingml/2006/main">
            <a:pPr algn="l">
              <a:defRPr sz="1800" b="0">
                <a:solidFill>
                  <a:srgbClr val="526871"/>
                </a:solidFill>
                <a:latin typeface="Arial"/>
                <a:ea typeface="Arial"/>
                <a:cs typeface="Arial"/>
              </a:defRPr>
            </a:pPr>
            <a:r>
              <a:rPr sz="1800" b="0">
                <a:solidFill>
                  <a:srgbClr val="526871"/>
                </a:solidFill>
                <a:latin typeface="Arial"/>
                <a:ea typeface="Arial"/>
                <a:cs typeface="Arial"/>
              </a:rPr>
              <a:t>Exact accepted candidate</a:t>
            </a:r>
          </a:p>
        </p:txBody>
      </p:sp>
      <p:sp>
        <p:nvSpPr>
          <p:cNvPr id="7" name="Fresh remote clone: 120/120 again, with the same Sta">
            <a:extLst xmlns:a="http://schemas.openxmlformats.org/drawingml/2006/main">
              <a:ext uri="{FF2B5EF4-FFF2-40B4-BE49-F238E27FC236}">
                <a16:creationId xmlns:a16="http://schemas.microsoft.com/office/drawing/2014/main" id="{45C51AF7-3F1E-4D1B-801B-3539489EFCCF}"/>
              </a:ext>
            </a:extLst>
          </p:cNvPr>
          <p:cNvSpPr>
            <a:spLocks xmlns:a="http://schemas.openxmlformats.org/drawingml/2006/main" noGrp="1"/>
          </p:cNvSpPr>
          <p:nvPr/>
        </p:nvSpPr>
        <p:spPr>
          <a:xfrm xmlns:a="http://schemas.openxmlformats.org/drawingml/2006/main">
            <a:off x="647700" y="59436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871"/>
                </a:solidFill>
                <a:latin typeface="Arial"/>
                <a:ea typeface="Arial"/>
                <a:cs typeface="Arial"/>
              </a:defRPr>
            </a:pPr>
            <a:r>
              <a:rPr sz="1725" b="0">
                <a:solidFill>
                  <a:srgbClr val="526871"/>
                </a:solidFill>
                <a:latin typeface="Arial"/>
                <a:ea typeface="Arial"/>
                <a:cs typeface="Arial"/>
              </a:rPr>
              <a:t>Fresh remote clone: 120/120 again, with the same Stage 1 tree at 27f677a.</a:t>
            </a:r>
          </a:p>
        </p:txBody>
      </p:sp>
    </p:spTree>
    <p:extLst>
      <p:ext uri="{BB962C8B-B14F-4D97-AF65-F5344CB8AC3E}">
        <p14:creationId xmlns:p14="http://schemas.microsoft.com/office/powerpoint/2010/main" val="301861033"/>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A receipt timer stopped Run 3">
            <a:extLst xmlns:a="http://schemas.openxmlformats.org/drawingml/2006/main">
              <a:ext uri="{FF2B5EF4-FFF2-40B4-BE49-F238E27FC236}">
                <a16:creationId xmlns:a16="http://schemas.microsoft.com/office/drawing/2014/main" id="{EC63D650-AE54-488A-8F75-0CAD44331035}"/>
              </a:ext>
            </a:extLst>
          </p:cNvPr>
          <p:cNvSpPr>
            <a:spLocks xmlns:a="http://schemas.openxmlformats.org/drawingml/2006/main" noGrp="1"/>
          </p:cNvSpPr>
          <p:nvPr/>
        </p:nvSpPr>
        <p:spPr>
          <a:xfrm xmlns:a="http://schemas.openxmlformats.org/drawingml/2006/main">
            <a:off x="647700" y="495300"/>
            <a:ext cx="108775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C49"/>
                </a:solidFill>
                <a:latin typeface="Arial"/>
                <a:ea typeface="Arial"/>
                <a:cs typeface="Arial"/>
              </a:defRPr>
            </a:pPr>
            <a:r>
              <a:rPr sz="3300" b="1">
                <a:solidFill>
                  <a:srgbClr val="183C49"/>
                </a:solidFill>
                <a:latin typeface="Arial"/>
                <a:ea typeface="Arial"/>
                <a:cs typeface="Arial"/>
              </a:rPr>
              <a:t>A receipt timer stopped Run 3</a:t>
            </a:r>
          </a:p>
        </p:txBody>
      </p:sp>
      <p:sp>
        <p:nvSpPr>
          <p:cNvPr id="2" name="06">
            <a:extLst xmlns:a="http://schemas.openxmlformats.org/drawingml/2006/main">
              <a:ext uri="{FF2B5EF4-FFF2-40B4-BE49-F238E27FC236}">
                <a16:creationId xmlns:a16="http://schemas.microsoft.com/office/drawing/2014/main" id="{5DD2B67A-C669-44C7-83F0-4B2DA2535E89}"/>
              </a:ext>
            </a:extLst>
          </p:cNvPr>
          <p:cNvSpPr>
            <a:spLocks xmlns:a="http://schemas.openxmlformats.org/drawingml/2006/main" noGrp="1"/>
          </p:cNvSpPr>
          <p:nvPr/>
        </p:nvSpPr>
        <p:spPr>
          <a:xfrm xmlns:a="http://schemas.openxmlformats.org/drawingml/2006/main">
            <a:off x="11049000" y="62960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871"/>
                </a:solidFill>
                <a:latin typeface="Arial"/>
                <a:ea typeface="Arial"/>
                <a:cs typeface="Arial"/>
              </a:defRPr>
            </a:pPr>
            <a:r>
              <a:rPr sz="1350" b="0">
                <a:solidFill>
                  <a:srgbClr val="526871"/>
                </a:solidFill>
                <a:latin typeface="Arial"/>
                <a:ea typeface="Arial"/>
                <a:cs typeface="Arial"/>
              </a:rPr>
              <a:t>06</a:t>
            </a:r>
          </a:p>
        </p:txBody>
      </p:sp>
      <p:graphicFrame>
        <p:nvGraphicFramePr>
          <p:cNvPr id="8" name=""/>
          <p:cNvGraphicFramePr/>
          <p:nvPr/>
        </p:nvGraphicFramePr>
        <p:xfrm>
          <a:off xmlns:a="http://schemas.openxmlformats.org/drawingml/2006/main" x="647700" y="1800225"/>
          <a:ext xmlns:a="http://schemas.openxmlformats.org/drawingml/2006/main" cx="10858500" cy="3143250"/>
        </p:xfrm>
        <a:graphic xmlns:a="http://schemas.openxmlformats.org/drawingml/2006/main">
          <a:graphicData uri="http://schemas.openxmlformats.org/drawingml/2006/table">
            <a:tbl>
              <a:tblPr firstRow="1" bandRow="0"/>
              <a:tblGrid>
                <a:gridCol w="2952750"/>
                <a:gridCol w="7905750"/>
              </a:tblGrid>
              <a:tr h="628650">
                <a:tc>
                  <a:txBody>
                    <a:bodyPr lIns="133350" tIns="104775" rIns="133350" bIns="104775">
                      <a:noAutofit/>
                    </a:bodyPr>
                    <a:lstStyle/>
                    <a:p>
                      <a:r>
                        <a:rPr sz="1875" b="1">
                          <a:solidFill>
                            <a:srgbClr val="FFFFFF"/>
                          </a:solidFill>
                          <a:latin typeface="Arial"/>
                          <a:ea typeface="Arial"/>
                          <a:cs typeface="Arial"/>
                        </a:rPr>
                        <a:t>UTC on 4 October</a:t>
                      </a:r>
                    </a:p>
                  </a:txBody>
                  <a:tcPr marL="91440" marR="91440" marT="45720" marB="45720" anchor="ctr">
                    <a:solidFill>
                      <a:srgbClr val="102E3B"/>
                    </a:solidFill>
                  </a:tcPr>
                </a:tc>
                <a:tc>
                  <a:txBody>
                    <a:bodyPr lIns="133350" tIns="104775" rIns="133350" bIns="104775">
                      <a:noAutofit/>
                    </a:bodyPr>
                    <a:lstStyle/>
                    <a:p>
                      <a:r>
                        <a:rPr sz="1875" b="1">
                          <a:solidFill>
                            <a:srgbClr val="FFFFFF"/>
                          </a:solidFill>
                          <a:latin typeface="Arial"/>
                          <a:ea typeface="Arial"/>
                          <a:cs typeface="Arial"/>
                        </a:rPr>
                        <a:t>Observed milestone</a:t>
                      </a:r>
                    </a:p>
                  </a:txBody>
                  <a:tcPr marL="91440" marR="91440" marT="45720" marB="45720" anchor="ctr">
                    <a:solidFill>
                      <a:srgbClr val="102E3B"/>
                    </a:solidFill>
                  </a:tcPr>
                </a:tc>
              </a:tr>
              <a:tr h="628650">
                <a:tc>
                  <a:txBody>
                    <a:bodyPr lIns="133350" tIns="104775" rIns="133350" bIns="104775">
                      <a:noAutofit/>
                    </a:bodyPr>
                    <a:lstStyle/>
                    <a:p>
                      <a:r>
                        <a:rPr sz="1875" b="0">
                          <a:solidFill>
                            <a:srgbClr val="183C49"/>
                          </a:solidFill>
                          <a:latin typeface="Arial"/>
                          <a:ea typeface="Arial"/>
                          <a:cs typeface="Arial"/>
                        </a:rPr>
                        <a:t>06:38:46</a:t>
                      </a:r>
                    </a:p>
                  </a:txBody>
                  <a:tcPr marL="91440" marR="91440" marT="45720" marB="45720" anchor="ctr">
                    <a:solidFill>
                      <a:srgbClr val="FFFFFF"/>
                    </a:solidFill>
                  </a:tcPr>
                </a:tc>
                <a:tc>
                  <a:txBody>
                    <a:bodyPr lIns="133350" tIns="104775" rIns="133350" bIns="104775">
                      <a:noAutofit/>
                    </a:bodyPr>
                    <a:lstStyle/>
                    <a:p>
                      <a:r>
                        <a:rPr sz="1875" b="0">
                          <a:solidFill>
                            <a:srgbClr val="183C49"/>
                          </a:solidFill>
                          <a:latin typeface="Arial"/>
                          <a:ea typeface="Arial"/>
                          <a:cs typeface="Arial"/>
                        </a:rPr>
                        <a:t>One complete initial dispatch</a:t>
                      </a:r>
                    </a:p>
                  </a:txBody>
                  <a:tcPr marL="91440" marR="91440" marT="45720" marB="45720" anchor="ctr">
                    <a:solidFill>
                      <a:srgbClr val="FFFFFF"/>
                    </a:solidFill>
                  </a:tcPr>
                </a:tc>
              </a:tr>
              <a:tr h="628650">
                <a:tc>
                  <a:txBody>
                    <a:bodyPr lIns="133350" tIns="104775" rIns="133350" bIns="104775">
                      <a:noAutofit/>
                    </a:bodyPr>
                    <a:lstStyle/>
                    <a:p>
                      <a:r>
                        <a:rPr sz="1875" b="0">
                          <a:solidFill>
                            <a:srgbClr val="183C49"/>
                          </a:solidFill>
                          <a:latin typeface="Arial"/>
                          <a:ea typeface="Arial"/>
                          <a:cs typeface="Arial"/>
                        </a:rPr>
                        <a:t>07:45:04</a:t>
                      </a:r>
                    </a:p>
                  </a:txBody>
                  <a:tcPr marL="91440" marR="91440" marT="45720" marB="45720" anchor="ctr">
                    <a:solidFill>
                      <a:srgbClr val="FFFFFF"/>
                    </a:solidFill>
                  </a:tcPr>
                </a:tc>
                <a:tc>
                  <a:txBody>
                    <a:bodyPr lIns="133350" tIns="104775" rIns="133350" bIns="104775">
                      <a:noAutofit/>
                    </a:bodyPr>
                    <a:lstStyle/>
                    <a:p>
                      <a:r>
                        <a:rPr sz="1875" b="0">
                          <a:solidFill>
                            <a:srgbClr val="183C49"/>
                          </a:solidFill>
                          <a:latin typeface="Arial"/>
                          <a:ea typeface="Arial"/>
                          <a:cs typeface="Arial"/>
                        </a:rPr>
                        <a:t>Reviewer rejects the first candidate</a:t>
                      </a:r>
                    </a:p>
                  </a:txBody>
                  <a:tcPr marL="91440" marR="91440" marT="45720" marB="45720" anchor="ctr">
                    <a:solidFill>
                      <a:srgbClr val="FFFFFF"/>
                    </a:solidFill>
                  </a:tcPr>
                </a:tc>
              </a:tr>
              <a:tr h="628650">
                <a:tc>
                  <a:txBody>
                    <a:bodyPr lIns="133350" tIns="104775" rIns="133350" bIns="104775">
                      <a:noAutofit/>
                    </a:bodyPr>
                    <a:lstStyle/>
                    <a:p>
                      <a:r>
                        <a:rPr sz="1875" b="0">
                          <a:solidFill>
                            <a:srgbClr val="183C49"/>
                          </a:solidFill>
                          <a:latin typeface="Arial"/>
                          <a:ea typeface="Arial"/>
                          <a:cs typeface="Arial"/>
                        </a:rPr>
                        <a:t>08:07:29</a:t>
                      </a:r>
                    </a:p>
                  </a:txBody>
                  <a:tcPr marL="91440" marR="91440" marT="45720" marB="45720" anchor="ctr">
                    <a:solidFill>
                      <a:srgbClr val="FFFFFF"/>
                    </a:solidFill>
                  </a:tcPr>
                </a:tc>
                <a:tc>
                  <a:txBody>
                    <a:bodyPr lIns="133350" tIns="104775" rIns="133350" bIns="104775">
                      <a:noAutofit/>
                    </a:bodyPr>
                    <a:lstStyle/>
                    <a:p>
                      <a:r>
                        <a:rPr sz="1875" b="0">
                          <a:solidFill>
                            <a:srgbClr val="183C49"/>
                          </a:solidFill>
                          <a:latin typeface="Arial"/>
                          <a:ea typeface="Arial"/>
                          <a:cs typeface="Arial"/>
                        </a:rPr>
                        <a:t>Reviewer accepts the F1 repair</a:t>
                      </a:r>
                    </a:p>
                  </a:txBody>
                  <a:tcPr marL="91440" marR="91440" marT="45720" marB="45720" anchor="ctr">
                    <a:solidFill>
                      <a:srgbClr val="FFFFFF"/>
                    </a:solidFill>
                  </a:tcPr>
                </a:tc>
              </a:tr>
              <a:tr h="628650">
                <a:tc>
                  <a:txBody>
                    <a:bodyPr lIns="133350" tIns="104775" rIns="133350" bIns="104775">
                      <a:noAutofit/>
                    </a:bodyPr>
                    <a:lstStyle/>
                    <a:p>
                      <a:r>
                        <a:rPr sz="1875" b="0">
                          <a:solidFill>
                            <a:srgbClr val="183C49"/>
                          </a:solidFill>
                          <a:latin typeface="Arial"/>
                          <a:ea typeface="Arial"/>
                          <a:cs typeface="Arial"/>
                        </a:rPr>
                        <a:t>08:47:13</a:t>
                      </a:r>
                    </a:p>
                  </a:txBody>
                  <a:tcPr marL="91440" marR="91440" marT="45720" marB="45720" anchor="ctr">
                    <a:solidFill>
                      <a:srgbClr val="FFFFFF"/>
                    </a:solidFill>
                  </a:tcPr>
                </a:tc>
                <a:tc>
                  <a:txBody>
                    <a:bodyPr lIns="133350" tIns="104775" rIns="133350" bIns="104775">
                      <a:noAutofit/>
                    </a:bodyPr>
                    <a:lstStyle/>
                    <a:p>
                      <a:r>
                        <a:rPr sz="1875" b="0">
                          <a:solidFill>
                            <a:srgbClr val="183C49"/>
                          </a:solidFill>
                          <a:latin typeface="Arial"/>
                          <a:ea typeface="Arial"/>
                          <a:cs typeface="Arial"/>
                        </a:rPr>
                        <a:t>Owned workers stop with workflow blocked</a:t>
                      </a:r>
                    </a:p>
                  </a:txBody>
                  <a:tcPr marL="91440" marR="91440" marT="45720" marB="45720" anchor="ctr">
                    <a:solidFill>
                      <a:srgbClr val="FFFFFF"/>
                    </a:solidFill>
                  </a:tcPr>
                </a:tc>
              </a:tr>
            </a:tbl>
          </a:graphicData>
        </a:graphic>
      </p:graphicFrame>
      <p:sp>
        <p:nvSpPr>
          <p:cNvPr id="4" name="At stop: 12 confirmed parts sent, 8 Backend callback">
            <a:extLst xmlns:a="http://schemas.openxmlformats.org/drawingml/2006/main">
              <a:ext uri="{FF2B5EF4-FFF2-40B4-BE49-F238E27FC236}">
                <a16:creationId xmlns:a16="http://schemas.microsoft.com/office/drawing/2014/main" id="{AD92BC2C-2FF4-47B1-BB55-46AC60FDC303}"/>
              </a:ext>
            </a:extLst>
          </p:cNvPr>
          <p:cNvSpPr>
            <a:spLocks xmlns:a="http://schemas.openxmlformats.org/drawingml/2006/main" noGrp="1"/>
          </p:cNvSpPr>
          <p:nvPr/>
        </p:nvSpPr>
        <p:spPr>
          <a:xfrm xmlns:a="http://schemas.openxmlformats.org/drawingml/2006/main">
            <a:off x="647700" y="52578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99520D"/>
                </a:solidFill>
                <a:latin typeface="Arial"/>
                <a:ea typeface="Arial"/>
                <a:cs typeface="Arial"/>
              </a:defRPr>
            </a:pPr>
            <a:r>
              <a:rPr sz="2025" b="1">
                <a:solidFill>
                  <a:srgbClr val="99520D"/>
                </a:solidFill>
                <a:latin typeface="Arial"/>
                <a:ea typeface="Arial"/>
                <a:cs typeface="Arial"/>
              </a:rPr>
              <a:t>At stop: 12 confirmed parts sent, 8 Backend callbacks completed.</a:t>
            </a:r>
          </a:p>
        </p:txBody>
      </p:sp>
      <p:sp>
        <p:nvSpPr>
          <p:cNvPr id="5" name="The receipt deadline matured during callback 6. Coor">
            <a:extLst xmlns:a="http://schemas.openxmlformats.org/drawingml/2006/main">
              <a:ext uri="{FF2B5EF4-FFF2-40B4-BE49-F238E27FC236}">
                <a16:creationId xmlns:a16="http://schemas.microsoft.com/office/drawing/2014/main" id="{13FC481E-25D1-4346-B671-F60B76DFD288}"/>
              </a:ext>
            </a:extLst>
          </p:cNvPr>
          <p:cNvSpPr>
            <a:spLocks xmlns:a="http://schemas.openxmlformats.org/drawingml/2006/main" noGrp="1"/>
          </p:cNvSpPr>
          <p:nvPr/>
        </p:nvSpPr>
        <p:spPr>
          <a:xfrm xmlns:a="http://schemas.openxmlformats.org/drawingml/2006/main">
            <a:off x="647700" y="57245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871"/>
                </a:solidFill>
                <a:latin typeface="Arial"/>
                <a:ea typeface="Arial"/>
                <a:cs typeface="Arial"/>
              </a:defRPr>
            </a:pPr>
            <a:r>
              <a:rPr sz="1725" b="0">
                <a:solidFill>
                  <a:srgbClr val="526871"/>
                </a:solidFill>
                <a:latin typeface="Arial"/>
                <a:ea typeface="Arial"/>
                <a:cs typeface="Arial"/>
              </a:rPr>
              <a:t>The receipt deadline matured during callback 6. Coordinator recovery blocked.</a:t>
            </a:r>
          </a:p>
          <a:p xmlns:a="http://schemas.openxmlformats.org/drawingml/2006/main">
            <a:pPr algn="l">
              <a:defRPr sz="1725" b="0">
                <a:solidFill>
                  <a:srgbClr val="526871"/>
                </a:solidFill>
                <a:latin typeface="Arial"/>
                <a:ea typeface="Arial"/>
                <a:cs typeface="Arial"/>
              </a:defRPr>
            </a:pPr>
            <a:r>
              <a:rPr sz="1725" b="0">
                <a:solidFill>
                  <a:srgbClr val="526871"/>
                </a:solidFill>
                <a:latin typeface="Arial"/>
                <a:ea typeface="Arial"/>
                <a:cs typeface="Arial"/>
              </a:rPr>
              <a:t>Stage 2 remained at planning only.</a:t>
            </a:r>
          </a:p>
        </p:txBody>
      </p:sp>
    </p:spTree>
    <p:extLst>
      <p:ext uri="{BB962C8B-B14F-4D97-AF65-F5344CB8AC3E}">
        <p14:creationId xmlns:p14="http://schemas.microsoft.com/office/powerpoint/2010/main" val="70685609"/>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84.08 million reported tokens across all attempts">
            <a:extLst xmlns:a="http://schemas.openxmlformats.org/drawingml/2006/main">
              <a:ext uri="{FF2B5EF4-FFF2-40B4-BE49-F238E27FC236}">
                <a16:creationId xmlns:a16="http://schemas.microsoft.com/office/drawing/2014/main" id="{D06613FE-D84A-4152-9B32-A1E9DB91BBA9}"/>
              </a:ext>
            </a:extLst>
          </p:cNvPr>
          <p:cNvSpPr>
            <a:spLocks xmlns:a="http://schemas.openxmlformats.org/drawingml/2006/main" noGrp="1"/>
          </p:cNvSpPr>
          <p:nvPr/>
        </p:nvSpPr>
        <p:spPr>
          <a:xfrm xmlns:a="http://schemas.openxmlformats.org/drawingml/2006/main">
            <a:off x="647700" y="495300"/>
            <a:ext cx="108775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C49"/>
                </a:solidFill>
                <a:latin typeface="Arial"/>
                <a:ea typeface="Arial"/>
                <a:cs typeface="Arial"/>
              </a:defRPr>
            </a:pPr>
            <a:r>
              <a:rPr sz="3300" b="1">
                <a:solidFill>
                  <a:srgbClr val="183C49"/>
                </a:solidFill>
                <a:latin typeface="Arial"/>
                <a:ea typeface="Arial"/>
                <a:cs typeface="Arial"/>
              </a:rPr>
              <a:t>84.08 million reported tokens across all attempts</a:t>
            </a:r>
          </a:p>
        </p:txBody>
      </p:sp>
      <p:sp>
        <p:nvSpPr>
          <p:cNvPr id="2" name="07">
            <a:extLst xmlns:a="http://schemas.openxmlformats.org/drawingml/2006/main">
              <a:ext uri="{FF2B5EF4-FFF2-40B4-BE49-F238E27FC236}">
                <a16:creationId xmlns:a16="http://schemas.microsoft.com/office/drawing/2014/main" id="{7F7A1CC9-DEA6-4447-A59F-D31B4A61BE1D}"/>
              </a:ext>
            </a:extLst>
          </p:cNvPr>
          <p:cNvSpPr>
            <a:spLocks xmlns:a="http://schemas.openxmlformats.org/drawingml/2006/main" noGrp="1"/>
          </p:cNvSpPr>
          <p:nvPr/>
        </p:nvSpPr>
        <p:spPr>
          <a:xfrm xmlns:a="http://schemas.openxmlformats.org/drawingml/2006/main">
            <a:off x="11049000" y="62960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871"/>
                </a:solidFill>
                <a:latin typeface="Arial"/>
                <a:ea typeface="Arial"/>
                <a:cs typeface="Arial"/>
              </a:defRPr>
            </a:pPr>
            <a:r>
              <a:rPr sz="1350" b="0">
                <a:solidFill>
                  <a:srgbClr val="526871"/>
                </a:solidFill>
                <a:latin typeface="Arial"/>
                <a:ea typeface="Arial"/>
                <a:cs typeface="Arial"/>
              </a:rPr>
              <a:t>07</a:t>
            </a:r>
          </a:p>
        </p:txBody>
      </p:sp>
      <p:sp>
        <p:nvSpPr>
          <p:cNvPr id="3" name="Run 3 added 58,265,038 tokens. Previous consumption ">
            <a:extLst xmlns:a="http://schemas.openxmlformats.org/drawingml/2006/main">
              <a:ext uri="{FF2B5EF4-FFF2-40B4-BE49-F238E27FC236}">
                <a16:creationId xmlns:a16="http://schemas.microsoft.com/office/drawing/2014/main" id="{039CE742-991B-4256-AE3A-D9C9E9C64F75}"/>
              </a:ext>
            </a:extLst>
          </p:cNvPr>
          <p:cNvSpPr>
            <a:spLocks xmlns:a="http://schemas.openxmlformats.org/drawingml/2006/main" noGrp="1"/>
          </p:cNvSpPr>
          <p:nvPr/>
        </p:nvSpPr>
        <p:spPr>
          <a:xfrm xmlns:a="http://schemas.openxmlformats.org/drawingml/2006/main">
            <a:off x="647700" y="16002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3C49"/>
                </a:solidFill>
                <a:latin typeface="Arial"/>
                <a:ea typeface="Arial"/>
                <a:cs typeface="Arial"/>
              </a:defRPr>
            </a:pPr>
            <a:r>
              <a:rPr sz="2100" b="0">
                <a:solidFill>
                  <a:srgbClr val="183C49"/>
                </a:solidFill>
                <a:latin typeface="Arial"/>
                <a:ea typeface="Arial"/>
                <a:cs typeface="Arial"/>
              </a:rPr>
              <a:t>Run 3 added 58,265,038 tokens. Previous consumption remained counted.</a:t>
            </a:r>
          </a:p>
        </p:txBody>
      </p:sp>
      <p:graphicFrame>
        <p:nvGraphicFramePr>
          <p:cNvPr id="10" name="Chart"/>
          <p:cNvGraphicFramePr/>
          <p:nvPr/>
        </p:nvGraphicFramePr>
        <p:xfrm>
          <a:off xmlns:a="http://schemas.openxmlformats.org/drawingml/2006/main" x="619125" y="2495550"/>
          <a:ext xmlns:a="http://schemas.openxmlformats.org/drawingml/2006/main" cx="10810875" cy="2381250"/>
        </p:xfrm>
        <a:graphic xmlns:a="http://schemas.openxmlformats.org/drawingml/2006/main">
          <a:graphicData uri="http://schemas.openxmlformats.org/drawingml/2006/chart">
            <c:chart xmlns:r="http://schemas.openxmlformats.org/officeDocument/2006/relationships" xmlns:c="http://schemas.openxmlformats.org/drawingml/2006/chart" r:id="Rd5e08a2998714c1d"/>
          </a:graphicData>
        </a:graphic>
      </p:graphicFrame>
      <p:sp>
        <p:nvSpPr>
          <p:cNvPr id="5" name="Subscription only. API billing and paid provisioning">
            <a:extLst xmlns:a="http://schemas.openxmlformats.org/drawingml/2006/main">
              <a:ext uri="{FF2B5EF4-FFF2-40B4-BE49-F238E27FC236}">
                <a16:creationId xmlns:a16="http://schemas.microsoft.com/office/drawing/2014/main" id="{DDD1CDF4-0890-4C29-A8BE-037A4EE43658}"/>
              </a:ext>
            </a:extLst>
          </p:cNvPr>
          <p:cNvSpPr>
            <a:spLocks xmlns:a="http://schemas.openxmlformats.org/drawingml/2006/main" noGrp="1"/>
          </p:cNvSpPr>
          <p:nvPr/>
        </p:nvSpPr>
        <p:spPr>
          <a:xfrm xmlns:a="http://schemas.openxmlformats.org/drawingml/2006/main">
            <a:off x="647700" y="52387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7D7D"/>
                </a:solidFill>
                <a:latin typeface="Arial"/>
                <a:ea typeface="Arial"/>
                <a:cs typeface="Arial"/>
              </a:defRPr>
            </a:pPr>
            <a:r>
              <a:rPr sz="2025" b="1">
                <a:solidFill>
                  <a:srgbClr val="007D7D"/>
                </a:solidFill>
                <a:latin typeface="Arial"/>
                <a:ea typeface="Arial"/>
                <a:cs typeface="Arial"/>
              </a:rPr>
              <a:t>Subscription only. API billing and paid provisioning disabled.</a:t>
            </a:r>
          </a:p>
        </p:txBody>
      </p:sp>
      <p:sp>
        <p:nvSpPr>
          <p:cNvPr id="6" name="Reported tokens include cached input. Monetary cost ">
            <a:extLst xmlns:a="http://schemas.openxmlformats.org/drawingml/2006/main">
              <a:ext uri="{FF2B5EF4-FFF2-40B4-BE49-F238E27FC236}">
                <a16:creationId xmlns:a16="http://schemas.microsoft.com/office/drawing/2014/main" id="{0F7B565E-005C-4DBF-8413-A9766B162AE0}"/>
              </a:ext>
            </a:extLst>
          </p:cNvPr>
          <p:cNvSpPr>
            <a:spLocks xmlns:a="http://schemas.openxmlformats.org/drawingml/2006/main" noGrp="1"/>
          </p:cNvSpPr>
          <p:nvPr/>
        </p:nvSpPr>
        <p:spPr>
          <a:xfrm xmlns:a="http://schemas.openxmlformats.org/drawingml/2006/main">
            <a:off x="647700" y="57816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871"/>
                </a:solidFill>
                <a:latin typeface="Arial"/>
                <a:ea typeface="Arial"/>
                <a:cs typeface="Arial"/>
              </a:defRPr>
            </a:pPr>
            <a:r>
              <a:rPr sz="1725" b="0">
                <a:solidFill>
                  <a:srgbClr val="526871"/>
                </a:solidFill>
                <a:latin typeface="Arial"/>
                <a:ea typeface="Arial"/>
                <a:cs typeface="Arial"/>
              </a:rPr>
              <a:t>Reported tokens include cached input. Monetary cost is unavailable.</a:t>
            </a:r>
          </a:p>
          <a:p xmlns:a="http://schemas.openxmlformats.org/drawingml/2006/main">
            <a:pPr algn="l">
              <a:defRPr sz="1725" b="0">
                <a:solidFill>
                  <a:srgbClr val="526871"/>
                </a:solidFill>
                <a:latin typeface="Arial"/>
                <a:ea typeface="Arial"/>
                <a:cs typeface="Arial"/>
              </a:defRPr>
            </a:pPr>
            <a:r>
              <a:rPr sz="1725" b="0">
                <a:solidFill>
                  <a:srgbClr val="526871"/>
                </a:solidFill>
                <a:latin typeface="Arial"/>
                <a:ea typeface="Arial"/>
                <a:cs typeface="Arial"/>
              </a:rPr>
              <a:t>The approved runtime window has expired, including for unused token capacity.</a:t>
            </a:r>
          </a:p>
        </p:txBody>
      </p:sp>
    </p:spTree>
    <p:extLst>
      <p:ext uri="{BB962C8B-B14F-4D97-AF65-F5344CB8AC3E}">
        <p14:creationId xmlns:p14="http://schemas.microsoft.com/office/powerpoint/2010/main" val="615153506"/>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The evidence package supports Stage 1">
            <a:extLst xmlns:a="http://schemas.openxmlformats.org/drawingml/2006/main">
              <a:ext uri="{FF2B5EF4-FFF2-40B4-BE49-F238E27FC236}">
                <a16:creationId xmlns:a16="http://schemas.microsoft.com/office/drawing/2014/main" id="{A4A5F7B7-40BB-4FE1-A780-834AB3710B34}"/>
              </a:ext>
            </a:extLst>
          </p:cNvPr>
          <p:cNvSpPr>
            <a:spLocks xmlns:a="http://schemas.openxmlformats.org/drawingml/2006/main" noGrp="1"/>
          </p:cNvSpPr>
          <p:nvPr/>
        </p:nvSpPr>
        <p:spPr>
          <a:xfrm xmlns:a="http://schemas.openxmlformats.org/drawingml/2006/main">
            <a:off x="647700" y="495300"/>
            <a:ext cx="108775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C49"/>
                </a:solidFill>
                <a:latin typeface="Arial"/>
                <a:ea typeface="Arial"/>
                <a:cs typeface="Arial"/>
              </a:defRPr>
            </a:pPr>
            <a:r>
              <a:rPr sz="3300" b="1">
                <a:solidFill>
                  <a:srgbClr val="183C49"/>
                </a:solidFill>
                <a:latin typeface="Arial"/>
                <a:ea typeface="Arial"/>
                <a:cs typeface="Arial"/>
              </a:rPr>
              <a:t>The evidence package supports Stage 1</a:t>
            </a:r>
          </a:p>
        </p:txBody>
      </p:sp>
      <p:sp>
        <p:nvSpPr>
          <p:cNvPr id="2" name="08">
            <a:extLst xmlns:a="http://schemas.openxmlformats.org/drawingml/2006/main">
              <a:ext uri="{FF2B5EF4-FFF2-40B4-BE49-F238E27FC236}">
                <a16:creationId xmlns:a16="http://schemas.microsoft.com/office/drawing/2014/main" id="{D7B0DA20-01FA-400D-A625-78F5A2CD2BD8}"/>
              </a:ext>
            </a:extLst>
          </p:cNvPr>
          <p:cNvSpPr>
            <a:spLocks xmlns:a="http://schemas.openxmlformats.org/drawingml/2006/main" noGrp="1"/>
          </p:cNvSpPr>
          <p:nvPr/>
        </p:nvSpPr>
        <p:spPr>
          <a:xfrm xmlns:a="http://schemas.openxmlformats.org/drawingml/2006/main">
            <a:off x="11049000" y="62960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871"/>
                </a:solidFill>
                <a:latin typeface="Arial"/>
                <a:ea typeface="Arial"/>
                <a:cs typeface="Arial"/>
              </a:defRPr>
            </a:pPr>
            <a:r>
              <a:rPr sz="1350" b="0">
                <a:solidFill>
                  <a:srgbClr val="526871"/>
                </a:solidFill>
                <a:latin typeface="Arial"/>
                <a:ea typeface="Arial"/>
                <a:cs typeface="Arial"/>
              </a:rPr>
              <a:t>08</a:t>
            </a:r>
          </a:p>
        </p:txBody>
      </p:sp>
      <p:graphicFrame>
        <p:nvGraphicFramePr>
          <p:cNvPr id="8" name=""/>
          <p:cNvGraphicFramePr/>
          <p:nvPr/>
        </p:nvGraphicFramePr>
        <p:xfrm>
          <a:off xmlns:a="http://schemas.openxmlformats.org/drawingml/2006/main" x="647700" y="1866900"/>
          <a:ext xmlns:a="http://schemas.openxmlformats.org/drawingml/2006/main" cx="10896600" cy="3381375"/>
        </p:xfrm>
        <a:graphic xmlns:a="http://schemas.openxmlformats.org/drawingml/2006/main">
          <a:graphicData uri="http://schemas.openxmlformats.org/drawingml/2006/table">
            <a:tbl>
              <a:tblPr firstRow="1" bandRow="0"/>
              <a:tblGrid>
                <a:gridCol w="5448300"/>
                <a:gridCol w="5448300"/>
              </a:tblGrid>
              <a:tr h="845344">
                <a:tc>
                  <a:txBody>
                    <a:bodyPr lIns="133350" tIns="104775" rIns="133350" bIns="104775">
                      <a:noAutofit/>
                    </a:bodyPr>
                    <a:lstStyle/>
                    <a:p>
                      <a:r>
                        <a:rPr sz="1875" b="1">
                          <a:solidFill>
                            <a:srgbClr val="FFFFFF"/>
                          </a:solidFill>
                          <a:latin typeface="Arial"/>
                          <a:ea typeface="Arial"/>
                          <a:cs typeface="Arial"/>
                        </a:rPr>
                        <a:t>Available evidence</a:t>
                      </a:r>
                    </a:p>
                  </a:txBody>
                  <a:tcPr marL="91440" marR="91440" marT="45720" marB="45720" anchor="ctr">
                    <a:solidFill>
                      <a:srgbClr val="102E3B"/>
                    </a:solidFill>
                  </a:tcPr>
                </a:tc>
                <a:tc>
                  <a:txBody>
                    <a:bodyPr lIns="133350" tIns="104775" rIns="133350" bIns="104775">
                      <a:noAutofit/>
                    </a:bodyPr>
                    <a:lstStyle/>
                    <a:p>
                      <a:r>
                        <a:rPr sz="1875" b="1">
                          <a:solidFill>
                            <a:srgbClr val="FFFFFF"/>
                          </a:solidFill>
                          <a:latin typeface="Arial"/>
                          <a:ea typeface="Arial"/>
                          <a:cs typeface="Arial"/>
                        </a:rPr>
                        <a:t>Remaining participant work</a:t>
                      </a:r>
                    </a:p>
                  </a:txBody>
                  <a:tcPr marL="91440" marR="91440" marT="45720" marB="45720" anchor="ctr">
                    <a:solidFill>
                      <a:srgbClr val="102E3B"/>
                    </a:solidFill>
                  </a:tcPr>
                </a:tc>
              </a:tr>
              <a:tr h="845344">
                <a:tc>
                  <a:txBody>
                    <a:bodyPr lIns="133350" tIns="104775" rIns="133350" bIns="104775">
                      <a:noAutofit/>
                    </a:bodyPr>
                    <a:lstStyle/>
                    <a:p>
                      <a:r>
                        <a:rPr sz="1875" b="0">
                          <a:solidFill>
                            <a:srgbClr val="183C49"/>
                          </a:solidFill>
                          <a:latin typeface="Arial"/>
                          <a:ea typeface="Arial"/>
                          <a:cs typeface="Arial"/>
                        </a:rPr>
                        <a:t>Accepted Stage 1 candidate</a:t>
                      </a:r>
                    </a:p>
                    <a:p>
                      <a:r>
                        <a:rPr sz="1875" b="0">
                          <a:solidFill>
                            <a:srgbClr val="183C49"/>
                          </a:solidFill>
                          <a:latin typeface="Arial"/>
                          <a:ea typeface="Arial"/>
                          <a:cs typeface="Arial"/>
                        </a:rPr>
                        <a:t>Exact review and isolated checks</a:t>
                      </a:r>
                    </a:p>
                  </a:txBody>
                  <a:tcPr marL="91440" marR="91440" marT="45720" marB="45720" anchor="ctr">
                    <a:solidFill>
                      <a:srgbClr val="FFFFFF"/>
                    </a:solidFill>
                  </a:tcPr>
                </a:tc>
                <a:tc>
                  <a:txBody>
                    <a:bodyPr lIns="133350" tIns="104775" rIns="133350" bIns="104775">
                      <a:noAutofit/>
                    </a:bodyPr>
                    <a:lstStyle/>
                    <a:p>
                      <a:r>
                        <a:rPr sz="1875" b="0">
                          <a:solidFill>
                            <a:srgbClr val="183C49"/>
                          </a:solidFill>
                          <a:latin typeface="Arial"/>
                          <a:ea typeface="Arial"/>
                          <a:cs typeface="Arial"/>
                        </a:rPr>
                        <a:t>Review AI-assisted narrative drafts</a:t>
                      </a:r>
                    </a:p>
                    <a:p>
                      <a:r>
                        <a:rPr sz="1875" b="0">
                          <a:solidFill>
                            <a:srgbClr val="183C49"/>
                          </a:solidFill>
                          <a:latin typeface="Arial"/>
                          <a:ea typeface="Arial"/>
                          <a:cs typeface="Arial"/>
                        </a:rPr>
                        <a:t>Participant authorship unresolved</a:t>
                      </a:r>
                    </a:p>
                  </a:txBody>
                  <a:tcPr marL="91440" marR="91440" marT="45720" marB="45720" anchor="ctr">
                    <a:solidFill>
                      <a:srgbClr val="FFFFFF"/>
                    </a:solidFill>
                  </a:tcPr>
                </a:tc>
              </a:tr>
              <a:tr h="845344">
                <a:tc>
                  <a:txBody>
                    <a:bodyPr lIns="133350" tIns="104775" rIns="133350" bIns="104775">
                      <a:noAutofit/>
                    </a:bodyPr>
                    <a:lstStyle/>
                    <a:p>
                      <a:r>
                        <a:rPr sz="1875" b="0">
                          <a:solidFill>
                            <a:srgbClr val="183C49"/>
                          </a:solidFill>
                          <a:latin typeface="Arial"/>
                          <a:ea typeface="Arial"/>
                          <a:cs typeface="Arial"/>
                        </a:rPr>
                        <a:t>4,088-message full room export</a:t>
                      </a:r>
                    </a:p>
                    <a:p>
                      <a:r>
                        <a:rPr sz="1875" b="0">
                          <a:solidFill>
                            <a:srgbClr val="183C49"/>
                          </a:solidFill>
                          <a:latin typeface="Arial"/>
                          <a:ea typeface="Arial"/>
                          <a:cs typeface="Arial"/>
                        </a:rPr>
                        <a:t>One human text: initial dispatch</a:t>
                      </a:r>
                    </a:p>
                  </a:txBody>
                  <a:tcPr marL="91440" marR="91440" marT="45720" marB="45720" anchor="ctr">
                    <a:solidFill>
                      <a:srgbClr val="FFFFFF"/>
                    </a:solidFill>
                  </a:tcPr>
                </a:tc>
                <a:tc>
                  <a:txBody>
                    <a:bodyPr lIns="133350" tIns="104775" rIns="133350" bIns="104775">
                      <a:noAutofit/>
                    </a:bodyPr>
                    <a:lstStyle/>
                    <a:p>
                      <a:r>
                        <a:rPr sz="1875" b="0">
                          <a:solidFill>
                            <a:srgbClr val="183C49"/>
                          </a:solidFill>
                          <a:latin typeface="Arial"/>
                          <a:ea typeface="Arial"/>
                          <a:cs typeface="Arial"/>
                        </a:rPr>
                        <a:t>Record the API and evidence walkthrough</a:t>
                      </a:r>
                    </a:p>
                    <a:p>
                      <a:r>
                        <a:rPr sz="1875" b="0">
                          <a:solidFill>
                            <a:srgbClr val="183C49"/>
                          </a:solidFill>
                          <a:latin typeface="Arial"/>
                          <a:ea typeface="Arial"/>
                          <a:cs typeface="Arial"/>
                        </a:rPr>
                        <a:t>No Stage 2 UI demonstration</a:t>
                      </a:r>
                    </a:p>
                  </a:txBody>
                  <a:tcPr marL="91440" marR="91440" marT="45720" marB="45720" anchor="ctr">
                    <a:solidFill>
                      <a:srgbClr val="FFFFFF"/>
                    </a:solidFill>
                  </a:tcPr>
                </a:tc>
              </a:tr>
              <a:tr h="845344">
                <a:tc>
                  <a:txBody>
                    <a:bodyPr lIns="133350" tIns="104775" rIns="133350" bIns="104775">
                      <a:noAutofit/>
                    </a:bodyPr>
                    <a:lstStyle/>
                    <a:p>
                      <a:r>
                        <a:rPr sz="1875" b="0">
                          <a:solidFill>
                            <a:srgbClr val="183C49"/>
                          </a:solidFill>
                          <a:latin typeface="Arial"/>
                          <a:ea typeface="Arial"/>
                          <a:cs typeface="Arial"/>
                        </a:rPr>
                        <a:t>Final package passes offline check</a:t>
                      </a:r>
                    </a:p>
                    <a:p>
                      <a:r>
                        <a:rPr sz="1875" b="0">
                          <a:solidFill>
                            <a:srgbClr val="183C49"/>
                          </a:solidFill>
                          <a:latin typeface="Arial"/>
                          <a:ea typeface="Arial"/>
                          <a:cs typeface="Arial"/>
                        </a:rPr>
                        <a:t>Stage 1 tree unchanged</a:t>
                      </a:r>
                    </a:p>
                  </a:txBody>
                  <a:tcPr marL="91440" marR="91440" marT="45720" marB="45720" anchor="ctr">
                    <a:solidFill>
                      <a:srgbClr val="FFFFFF"/>
                    </a:solidFill>
                  </a:tcPr>
                </a:tc>
                <a:tc>
                  <a:txBody>
                    <a:bodyPr lIns="133350" tIns="104775" rIns="133350" bIns="104775">
                      <a:noAutofit/>
                    </a:bodyPr>
                    <a:lstStyle/>
                    <a:p>
                      <a:r>
                        <a:rPr sz="1875" b="0">
                          <a:solidFill>
                            <a:srgbClr val="183C49"/>
                          </a:solidFill>
                          <a:latin typeface="Arial"/>
                          <a:ea typeface="Arial"/>
                          <a:cs typeface="Arial"/>
                        </a:rPr>
                        <a:t>Finish participant review and release steps</a:t>
                      </a:r>
                    </a:p>
                    <a:p>
                      <a:r>
                        <a:rPr sz="1875" b="0">
                          <a:solidFill>
                            <a:srgbClr val="183C49"/>
                          </a:solidFill>
                          <a:latin typeface="Arial"/>
                          <a:ea typeface="Arial"/>
                          <a:cs typeface="Arial"/>
                        </a:rPr>
                        <a:t>Public submission remains unclaimed</a:t>
                      </a:r>
                    </a:p>
                  </a:txBody>
                  <a:tcPr marL="91440" marR="91440" marT="45720" marB="45720" anchor="ctr">
                    <a:solidFill>
                      <a:srgbClr val="FFFFFF"/>
                    </a:solidFill>
                  </a:tcPr>
                </a:tc>
              </a:tr>
            </a:tbl>
          </a:graphicData>
        </a:graphic>
      </p:graphicFrame>
      <p:sp>
        <p:nvSpPr>
          <p:cNvPr id="4" name="Pinned guide: 803560d2a678ace1414465c098eb0ab5380ffa">
            <a:extLst xmlns:a="http://schemas.openxmlformats.org/drawingml/2006/main">
              <a:ext uri="{FF2B5EF4-FFF2-40B4-BE49-F238E27FC236}">
                <a16:creationId xmlns:a16="http://schemas.microsoft.com/office/drawing/2014/main" id="{64154F9E-B9A6-4E5C-BCD0-CF92D5A48549}"/>
              </a:ext>
            </a:extLst>
          </p:cNvPr>
          <p:cNvSpPr>
            <a:spLocks xmlns:a="http://schemas.openxmlformats.org/drawingml/2006/main" noGrp="1"/>
          </p:cNvSpPr>
          <p:nvPr/>
        </p:nvSpPr>
        <p:spPr>
          <a:xfrm xmlns:a="http://schemas.openxmlformats.org/drawingml/2006/main">
            <a:off x="647700" y="56007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871"/>
                </a:solidFill>
                <a:latin typeface="Arial"/>
                <a:ea typeface="Arial"/>
                <a:cs typeface="Arial"/>
              </a:defRPr>
            </a:pPr>
            <a:r>
              <a:rPr sz="1725" b="0">
                <a:solidFill>
                  <a:srgbClr val="526871"/>
                </a:solidFill>
                <a:latin typeface="Arial"/>
                <a:ea typeface="Arial"/>
                <a:cs typeface="Arial"/>
              </a:rPr>
              <a:t>Pinned guide: 803560d2a678ace1414465c098eb0ab5380ffade</a:t>
            </a:r>
          </a:p>
        </p:txBody>
      </p:sp>
      <p:sp>
        <p:nvSpPr>
          <p:cNvPr id="5" name="AI-assisted drafts are complete. Participant review ">
            <a:extLst xmlns:a="http://schemas.openxmlformats.org/drawingml/2006/main">
              <a:ext uri="{FF2B5EF4-FFF2-40B4-BE49-F238E27FC236}">
                <a16:creationId xmlns:a16="http://schemas.microsoft.com/office/drawing/2014/main" id="{D2F7401E-2678-4B1C-998E-679F90375220}"/>
              </a:ext>
            </a:extLst>
          </p:cNvPr>
          <p:cNvSpPr>
            <a:spLocks xmlns:a="http://schemas.openxmlformats.org/drawingml/2006/main" noGrp="1"/>
          </p:cNvSpPr>
          <p:nvPr/>
        </p:nvSpPr>
        <p:spPr>
          <a:xfrm xmlns:a="http://schemas.openxmlformats.org/drawingml/2006/main">
            <a:off x="647700" y="603885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99520D"/>
                </a:solidFill>
                <a:latin typeface="Arial"/>
                <a:ea typeface="Arial"/>
                <a:cs typeface="Arial"/>
              </a:defRPr>
            </a:pPr>
            <a:r>
              <a:rPr sz="1725" b="1">
                <a:solidFill>
                  <a:srgbClr val="99520D"/>
                </a:solidFill>
                <a:latin typeface="Arial"/>
                <a:ea typeface="Arial"/>
                <a:cs typeface="Arial"/>
              </a:rPr>
              <a:t>AI-assisted drafts are complete. Participant review and authorship remain unresolved.</a:t>
            </a:r>
          </a:p>
        </p:txBody>
      </p:sp>
    </p:spTree>
    <p:extLst>
      <p:ext uri="{BB962C8B-B14F-4D97-AF65-F5344CB8AC3E}">
        <p14:creationId xmlns:p14="http://schemas.microsoft.com/office/powerpoint/2010/main" val="17332658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2026-10-04T16:59:07.5200000Z</dcterms:created>
  <dcterms:modified xsi:type="dcterms:W3CDTF">2026-10-04T16:59:07.5200000Z</dcterms:modified>
</coreProperties>
</file>